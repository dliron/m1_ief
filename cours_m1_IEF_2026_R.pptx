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5" r:id="rId3"/>
    <p:sldId id="259" r:id="rId4"/>
    <p:sldId id="264" r:id="rId5"/>
    <p:sldId id="270" r:id="rId6"/>
    <p:sldId id="271" r:id="rId7"/>
    <p:sldId id="266" r:id="rId8"/>
    <p:sldId id="269" r:id="rId9"/>
    <p:sldId id="272" r:id="rId10"/>
    <p:sldId id="267" r:id="rId11"/>
    <p:sldId id="273" r:id="rId12"/>
    <p:sldId id="274" r:id="rId13"/>
    <p:sldId id="275" r:id="rId14"/>
    <p:sldId id="276" r:id="rId15"/>
    <p:sldId id="277" r:id="rId16"/>
    <p:sldId id="278" r:id="rId17"/>
    <p:sldId id="280"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1313"/>
    <a:srgbClr val="CD2D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A19142-F0E3-4210-A139-B99EB369A4F6}" v="113" dt="2024-09-02T10:02:54.2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2" d="100"/>
          <a:sy n="72" d="100"/>
        </p:scale>
        <p:origin x="410"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43B57-31E3-472A-A446-0C553600091C}" type="datetimeFigureOut">
              <a:rPr lang="fr-FR" smtClean="0"/>
              <a:t>12/09/2025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6B836A-5CEC-41D4-BA5B-6F67AEBED846}" type="slidenum">
              <a:rPr lang="fr-FR" smtClean="0"/>
              <a:t>‹N°›</a:t>
            </a:fld>
            <a:endParaRPr lang="fr-FR"/>
          </a:p>
        </p:txBody>
      </p:sp>
    </p:spTree>
    <p:extLst>
      <p:ext uri="{BB962C8B-B14F-4D97-AF65-F5344CB8AC3E}">
        <p14:creationId xmlns:p14="http://schemas.microsoft.com/office/powerpoint/2010/main" val="1848301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56B836A-5CEC-41D4-BA5B-6F67AEBED846}" type="slidenum">
              <a:rPr lang="fr-FR" smtClean="0"/>
              <a:t>17</a:t>
            </a:fld>
            <a:endParaRPr lang="fr-FR"/>
          </a:p>
        </p:txBody>
      </p:sp>
    </p:spTree>
    <p:extLst>
      <p:ext uri="{BB962C8B-B14F-4D97-AF65-F5344CB8AC3E}">
        <p14:creationId xmlns:p14="http://schemas.microsoft.com/office/powerpoint/2010/main" val="1361903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872398-127B-C2DA-15D7-C2B7730CF7C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330276B-B6AA-9E7B-A487-618D1EAB0F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D12D673-67FE-F321-9A4E-A8A565D715EE}"/>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5" name="Espace réservé du pied de page 4">
            <a:extLst>
              <a:ext uri="{FF2B5EF4-FFF2-40B4-BE49-F238E27FC236}">
                <a16:creationId xmlns:a16="http://schemas.microsoft.com/office/drawing/2014/main" id="{CEC36D63-A56E-EA89-CDE7-DDECFD1A11B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CC005BB-9261-7E8E-2C3D-CEFBB35B77F5}"/>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2969546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BCCA7E-1644-92C4-3514-A572E853CF2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7E8EEDD-EA1C-A178-D514-6B1A3714787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12C44B5-4D25-77EA-3C5A-4F9E487F6BCD}"/>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5" name="Espace réservé du pied de page 4">
            <a:extLst>
              <a:ext uri="{FF2B5EF4-FFF2-40B4-BE49-F238E27FC236}">
                <a16:creationId xmlns:a16="http://schemas.microsoft.com/office/drawing/2014/main" id="{D15B3D76-3951-BE4B-B481-A04202EE7E7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1445454-6E8B-1117-70BC-5C650D34653E}"/>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54121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5688C9-AED3-D2B6-B184-DF28F2574AC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7D43292-A492-15F7-1AA2-5E69E347C7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C8021E9-8F53-90CA-E280-84AB82FF2C0C}"/>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5" name="Espace réservé du pied de page 4">
            <a:extLst>
              <a:ext uri="{FF2B5EF4-FFF2-40B4-BE49-F238E27FC236}">
                <a16:creationId xmlns:a16="http://schemas.microsoft.com/office/drawing/2014/main" id="{C2E45AE4-ED79-ACF7-487B-2EFE2EF7C46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74732E3-46E6-56D8-9EAC-3A335FDDFDAD}"/>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2661313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88B6A7-ACD5-12CC-663D-97D5B9D9DCC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FFD7753-2B88-3487-326E-4A21F443B36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32799AA-065B-0B18-E91F-D46C5161B4E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86B48BE-70ED-2FDE-1A03-9B438D15AB7E}"/>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6" name="Espace réservé du pied de page 5">
            <a:extLst>
              <a:ext uri="{FF2B5EF4-FFF2-40B4-BE49-F238E27FC236}">
                <a16:creationId xmlns:a16="http://schemas.microsoft.com/office/drawing/2014/main" id="{520C09B2-A613-DFDB-9F98-90076BB1568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AE2F2D2-9437-CEA8-EF81-BEF7FAFAAD92}"/>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2695600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892796-6116-40A2-EC36-6A8A776227D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915D8F2-C9F1-F98D-ADF8-1C79CB9EBC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F5A3D8F-493F-9233-0DCF-E27541ABD2C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4ABFD47-1E66-155D-015B-49AFCCE4B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C3A9E21-2CEA-D8E8-99CD-670E63E9A97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01FAAC98-980C-3CDF-8B66-CC4EB6428873}"/>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8" name="Espace réservé du pied de page 7">
            <a:extLst>
              <a:ext uri="{FF2B5EF4-FFF2-40B4-BE49-F238E27FC236}">
                <a16:creationId xmlns:a16="http://schemas.microsoft.com/office/drawing/2014/main" id="{1D02C82D-C736-3A1D-54DB-3317BFE2281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1F4AB57-25F3-717D-8688-A99135891D37}"/>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990127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EC3FF6-5396-7EA4-A94D-BC997DC7E51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0F65D66-FB07-2D4E-33A0-60BF00E94ED4}"/>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4" name="Espace réservé du pied de page 3">
            <a:extLst>
              <a:ext uri="{FF2B5EF4-FFF2-40B4-BE49-F238E27FC236}">
                <a16:creationId xmlns:a16="http://schemas.microsoft.com/office/drawing/2014/main" id="{22EAEAA3-6D49-2F41-21C4-3D3089FAD16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7022D5B-B8C6-E9EF-11B9-87ECF52AF7C4}"/>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2143111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9339340-BD5A-8A53-74DE-3DF68A271C61}"/>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3" name="Espace réservé du pied de page 2">
            <a:extLst>
              <a:ext uri="{FF2B5EF4-FFF2-40B4-BE49-F238E27FC236}">
                <a16:creationId xmlns:a16="http://schemas.microsoft.com/office/drawing/2014/main" id="{C7DB5F88-E4FE-B33A-CD23-3CF237EF971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DC00AAE-B44E-8341-FA47-8764FED3C8DF}"/>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2754601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CFA4F5-69F5-3373-F2EC-44A0F3DF72A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E0D702E-E571-22B7-CFE2-DA706512D7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A06978C-BC39-541C-8F7B-537D5101D0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077422F-73F3-09C4-1E8D-B9D64A779604}"/>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6" name="Espace réservé du pied de page 5">
            <a:extLst>
              <a:ext uri="{FF2B5EF4-FFF2-40B4-BE49-F238E27FC236}">
                <a16:creationId xmlns:a16="http://schemas.microsoft.com/office/drawing/2014/main" id="{E6A29CAE-C97E-595A-7DE7-E4F452991F6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605EB0C-B99D-F306-0C69-F521FD95ABB8}"/>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3962556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3781FB-C7BF-080C-F62E-BB5A7A0F7DA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966471F-C795-35FF-DC81-942E134945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CD66209-F5CE-F495-6A0B-687859938D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554FB34-0F13-961B-7B04-BAD7A9CCB508}"/>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6" name="Espace réservé du pied de page 5">
            <a:extLst>
              <a:ext uri="{FF2B5EF4-FFF2-40B4-BE49-F238E27FC236}">
                <a16:creationId xmlns:a16="http://schemas.microsoft.com/office/drawing/2014/main" id="{67110B3F-8A8D-987A-337E-C600E0026C3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E39325C-CC75-0586-EF31-A1930F5919A3}"/>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1847065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AC2E18-4BFB-79D9-2859-4DD9EA08743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D2C7A96-CD79-6906-89E5-FC6FDB4CF67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FF5FCDF-DE57-4DD9-5531-1D25D9C2B76C}"/>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5" name="Espace réservé du pied de page 4">
            <a:extLst>
              <a:ext uri="{FF2B5EF4-FFF2-40B4-BE49-F238E27FC236}">
                <a16:creationId xmlns:a16="http://schemas.microsoft.com/office/drawing/2014/main" id="{45FBA566-2DC2-59F1-3CA2-2B47B7E94DA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C0A3140-8EC3-D9FD-7760-12AE04E0A0C1}"/>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1578331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AFD2F7-3B8E-F081-92BE-970F116E2E9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77EF719-8FF2-89E6-14CD-107041A8AB6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AC585C2-AEED-739C-EA66-EBAEFAD7BA19}"/>
              </a:ext>
            </a:extLst>
          </p:cNvPr>
          <p:cNvSpPr>
            <a:spLocks noGrp="1"/>
          </p:cNvSpPr>
          <p:nvPr>
            <p:ph type="dt" sz="half" idx="10"/>
          </p:nvPr>
        </p:nvSpPr>
        <p:spPr/>
        <p:txBody>
          <a:bodyPr/>
          <a:lstStyle/>
          <a:p>
            <a:fld id="{CBE0696D-56B4-4C63-8C2A-CB788A7C6E23}" type="datetimeFigureOut">
              <a:rPr lang="fr-FR" smtClean="0"/>
              <a:t>12/09/2025</a:t>
            </a:fld>
            <a:endParaRPr lang="fr-FR"/>
          </a:p>
        </p:txBody>
      </p:sp>
      <p:sp>
        <p:nvSpPr>
          <p:cNvPr id="5" name="Espace réservé du pied de page 4">
            <a:extLst>
              <a:ext uri="{FF2B5EF4-FFF2-40B4-BE49-F238E27FC236}">
                <a16:creationId xmlns:a16="http://schemas.microsoft.com/office/drawing/2014/main" id="{91489C0E-6551-F0DF-2EBB-6951DFFF559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AE2EE37-DA08-7367-2D68-3E16D49730BA}"/>
              </a:ext>
            </a:extLst>
          </p:cNvPr>
          <p:cNvSpPr>
            <a:spLocks noGrp="1"/>
          </p:cNvSpPr>
          <p:nvPr>
            <p:ph type="sldNum" sz="quarter" idx="12"/>
          </p:nvPr>
        </p:nvSpPr>
        <p:spPr/>
        <p:txBody>
          <a:bodyPr/>
          <a:lstStyle/>
          <a:p>
            <a:fld id="{F526F94C-EDF7-49FA-9F12-720EBF2826B7}" type="slidenum">
              <a:rPr lang="fr-FR" smtClean="0"/>
              <a:t>‹N°›</a:t>
            </a:fld>
            <a:endParaRPr lang="fr-FR"/>
          </a:p>
        </p:txBody>
      </p:sp>
    </p:spTree>
    <p:extLst>
      <p:ext uri="{BB962C8B-B14F-4D97-AF65-F5344CB8AC3E}">
        <p14:creationId xmlns:p14="http://schemas.microsoft.com/office/powerpoint/2010/main" val="1252190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8CA3A8B-826F-E872-7761-CF0F0587CC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6BF5E1F-2047-C79A-01B6-9479A23652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ADD2B77-F1A8-BB15-A645-8B8C4080F5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E0696D-56B4-4C63-8C2A-CB788A7C6E23}" type="datetimeFigureOut">
              <a:rPr lang="fr-FR" smtClean="0"/>
              <a:t>12/09/2025</a:t>
            </a:fld>
            <a:endParaRPr lang="fr-FR"/>
          </a:p>
        </p:txBody>
      </p:sp>
      <p:sp>
        <p:nvSpPr>
          <p:cNvPr id="5" name="Espace réservé du pied de page 4">
            <a:extLst>
              <a:ext uri="{FF2B5EF4-FFF2-40B4-BE49-F238E27FC236}">
                <a16:creationId xmlns:a16="http://schemas.microsoft.com/office/drawing/2014/main" id="{65DE9524-4B4E-1848-E3CC-3049DC37C9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B176111-D73D-4989-0DFC-C9CE2CAE49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26F94C-EDF7-49FA-9F12-720EBF2826B7}" type="slidenum">
              <a:rPr lang="fr-FR" smtClean="0"/>
              <a:t>‹N°›</a:t>
            </a:fld>
            <a:endParaRPr lang="fr-FR"/>
          </a:p>
        </p:txBody>
      </p:sp>
    </p:spTree>
    <p:extLst>
      <p:ext uri="{BB962C8B-B14F-4D97-AF65-F5344CB8AC3E}">
        <p14:creationId xmlns:p14="http://schemas.microsoft.com/office/powerpoint/2010/main" val="4274101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0D9E82A1-6BEC-4BE0-4DAB-9BCA289AB40D}"/>
              </a:ext>
            </a:extLst>
          </p:cNvPr>
          <p:cNvSpPr txBox="1"/>
          <p:nvPr/>
        </p:nvSpPr>
        <p:spPr>
          <a:xfrm>
            <a:off x="1227666" y="1464732"/>
            <a:ext cx="9736667" cy="954107"/>
          </a:xfrm>
          <a:prstGeom prst="rect">
            <a:avLst/>
          </a:prstGeom>
          <a:noFill/>
        </p:spPr>
        <p:txBody>
          <a:bodyPr wrap="square">
            <a:spAutoFit/>
          </a:bodyPr>
          <a:lstStyle/>
          <a:p>
            <a:pPr algn="ctr"/>
            <a:r>
              <a:rPr lang="en-US" sz="3200">
                <a:latin typeface="CMU Serif" panose="02000603000000000000" pitchFamily="2" charset="0"/>
                <a:ea typeface="CMU Serif" panose="02000603000000000000" pitchFamily="2" charset="0"/>
                <a:cs typeface="CMU Serif" panose="02000603000000000000" pitchFamily="2" charset="0"/>
              </a:rPr>
              <a:t>Introduction à R</a:t>
            </a:r>
          </a:p>
          <a:p>
            <a:pPr algn="ctr"/>
            <a:r>
              <a:rPr lang="en-US" sz="2400">
                <a:latin typeface="CMU Serif" panose="02000603000000000000" pitchFamily="2" charset="0"/>
                <a:ea typeface="CMU Serif" panose="02000603000000000000" pitchFamily="2" charset="0"/>
                <a:cs typeface="CMU Serif" panose="02000603000000000000" pitchFamily="2" charset="0"/>
              </a:rPr>
              <a:t>Didier Liron</a:t>
            </a:r>
            <a:endParaRPr lang="fr-FR" sz="3200" dirty="0">
              <a:latin typeface="CMU Serif" panose="02000603000000000000" pitchFamily="2" charset="0"/>
              <a:ea typeface="CMU Serif" panose="02000603000000000000" pitchFamily="2" charset="0"/>
              <a:cs typeface="CMU Serif" panose="02000603000000000000" pitchFamily="2" charset="0"/>
            </a:endParaRPr>
          </a:p>
        </p:txBody>
      </p:sp>
      <p:sp>
        <p:nvSpPr>
          <p:cNvPr id="7" name="ZoneTexte 6">
            <a:extLst>
              <a:ext uri="{FF2B5EF4-FFF2-40B4-BE49-F238E27FC236}">
                <a16:creationId xmlns:a16="http://schemas.microsoft.com/office/drawing/2014/main" id="{67EEAACD-FB3F-4D22-E0A6-8D3AE105B450}"/>
              </a:ext>
            </a:extLst>
          </p:cNvPr>
          <p:cNvSpPr txBox="1"/>
          <p:nvPr/>
        </p:nvSpPr>
        <p:spPr>
          <a:xfrm>
            <a:off x="3048000" y="3368301"/>
            <a:ext cx="6096000" cy="369332"/>
          </a:xfrm>
          <a:prstGeom prst="rect">
            <a:avLst/>
          </a:prstGeom>
          <a:noFill/>
        </p:spPr>
        <p:txBody>
          <a:bodyPr wrap="square">
            <a:spAutoFit/>
          </a:bodyPr>
          <a:lstStyle/>
          <a:p>
            <a:pPr algn="ctr"/>
            <a:r>
              <a:rPr lang="en-US">
                <a:latin typeface="CMU Serif" panose="02000603000000000000" pitchFamily="2" charset="0"/>
                <a:ea typeface="CMU Serif" panose="02000603000000000000" pitchFamily="2" charset="0"/>
                <a:cs typeface="CMU Serif" panose="02000603000000000000" pitchFamily="2" charset="0"/>
              </a:rPr>
              <a:t>M1 IEF – 2025</a:t>
            </a:r>
            <a:endParaRPr lang="fr-FR" dirty="0">
              <a:latin typeface="CMU Serif" panose="02000603000000000000" pitchFamily="2" charset="0"/>
              <a:ea typeface="CMU Serif" panose="02000603000000000000" pitchFamily="2" charset="0"/>
              <a:cs typeface="CMU Serif" panose="02000603000000000000" pitchFamily="2" charset="0"/>
            </a:endParaRPr>
          </a:p>
        </p:txBody>
      </p:sp>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descr="Home - TAC ECONOMICS">
            <a:extLst>
              <a:ext uri="{FF2B5EF4-FFF2-40B4-BE49-F238E27FC236}">
                <a16:creationId xmlns:a16="http://schemas.microsoft.com/office/drawing/2014/main" id="{850ACF47-A601-6031-061E-D92A1BFD9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0159" y="4561306"/>
            <a:ext cx="1131680" cy="656167"/>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D73A291F-F3DC-7C11-24C9-72448A282AEC}"/>
              </a:ext>
            </a:extLst>
          </p:cNvPr>
          <p:cNvSpPr txBox="1"/>
          <p:nvPr/>
        </p:nvSpPr>
        <p:spPr>
          <a:xfrm>
            <a:off x="3048000" y="5322997"/>
            <a:ext cx="6096000" cy="646331"/>
          </a:xfrm>
          <a:prstGeom prst="rect">
            <a:avLst/>
          </a:prstGeom>
          <a:noFill/>
        </p:spPr>
        <p:txBody>
          <a:bodyPr wrap="square">
            <a:spAutoFit/>
          </a:bodyPr>
          <a:lstStyle/>
          <a:p>
            <a:pPr algn="ctr"/>
            <a:endParaRPr lang="en-US">
              <a:latin typeface="CMU Serif" panose="02000603000000000000" pitchFamily="2" charset="0"/>
              <a:ea typeface="CMU Serif" panose="02000603000000000000" pitchFamily="2" charset="0"/>
              <a:cs typeface="CMU Serif" panose="02000603000000000000" pitchFamily="2" charset="0"/>
            </a:endParaRPr>
          </a:p>
          <a:p>
            <a:pPr algn="ctr"/>
            <a:r>
              <a:rPr lang="en-US">
                <a:latin typeface="CMU Serif" panose="02000603000000000000" pitchFamily="2" charset="0"/>
                <a:ea typeface="CMU Serif" panose="02000603000000000000" pitchFamily="2" charset="0"/>
                <a:cs typeface="CMU Serif" panose="02000603000000000000" pitchFamily="2" charset="0"/>
              </a:rPr>
              <a:t>didier.liron@taceconomics.com</a:t>
            </a:r>
            <a:endParaRPr lang="fr-FR" dirty="0">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2666382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Introduction à R</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2</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15" name="ZoneTexte 14">
            <a:extLst>
              <a:ext uri="{FF2B5EF4-FFF2-40B4-BE49-F238E27FC236}">
                <a16:creationId xmlns:a16="http://schemas.microsoft.com/office/drawing/2014/main" id="{298DA1BD-7969-D1A6-C722-D32CB56603EB}"/>
              </a:ext>
            </a:extLst>
          </p:cNvPr>
          <p:cNvSpPr txBox="1"/>
          <p:nvPr/>
        </p:nvSpPr>
        <p:spPr>
          <a:xfrm>
            <a:off x="592667" y="1470504"/>
            <a:ext cx="5232878" cy="3693319"/>
          </a:xfrm>
          <a:prstGeom prst="rect">
            <a:avLst/>
          </a:prstGeom>
          <a:noFill/>
        </p:spPr>
        <p:txBody>
          <a:bodyPr wrap="square" rtlCol="0">
            <a:spAutoFit/>
          </a:bodyPr>
          <a:lstStyle/>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Qu’est ce que R ?</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Qu’est ce que Rstudio ?</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Différence </a:t>
            </a:r>
            <a:r>
              <a:rPr lang="fr-FR" b="1">
                <a:solidFill>
                  <a:srgbClr val="C00000"/>
                </a:solidFill>
                <a:latin typeface="CMU Serif" panose="02000603000000000000" pitchFamily="2" charset="0"/>
                <a:ea typeface="CMU Serif" panose="02000603000000000000" pitchFamily="2" charset="0"/>
                <a:cs typeface="CMU Serif" panose="02000603000000000000" pitchFamily="2" charset="0"/>
              </a:rPr>
              <a:t>script</a:t>
            </a:r>
            <a:r>
              <a:rPr lang="fr-FR">
                <a:latin typeface="CMU Serif" panose="02000603000000000000" pitchFamily="2" charset="0"/>
                <a:ea typeface="CMU Serif" panose="02000603000000000000" pitchFamily="2" charset="0"/>
                <a:cs typeface="CMU Serif" panose="02000603000000000000" pitchFamily="2" charset="0"/>
              </a:rPr>
              <a:t> vs </a:t>
            </a:r>
            <a:r>
              <a:rPr lang="fr-FR" b="1">
                <a:solidFill>
                  <a:schemeClr val="accent6"/>
                </a:solidFill>
                <a:latin typeface="CMU Serif" panose="02000603000000000000" pitchFamily="2" charset="0"/>
                <a:ea typeface="CMU Serif" panose="02000603000000000000" pitchFamily="2" charset="0"/>
                <a:cs typeface="CMU Serif" panose="02000603000000000000" pitchFamily="2" charset="0"/>
              </a:rPr>
              <a:t>console</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Créer un environnement sain de développement pour un projet</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Qu’est ce qu’un </a:t>
            </a:r>
            <a:r>
              <a:rPr lang="fr-FR" b="1">
                <a:solidFill>
                  <a:srgbClr val="00B0F0"/>
                </a:solidFill>
                <a:latin typeface="CMU Serif" panose="02000603000000000000" pitchFamily="2" charset="0"/>
                <a:ea typeface="CMU Serif" panose="02000603000000000000" pitchFamily="2" charset="0"/>
                <a:cs typeface="CMU Serif" panose="02000603000000000000" pitchFamily="2" charset="0"/>
              </a:rPr>
              <a:t>repertoire de travail</a:t>
            </a:r>
            <a:r>
              <a:rPr lang="fr-FR">
                <a:latin typeface="CMU Serif" panose="02000603000000000000" pitchFamily="2" charset="0"/>
                <a:ea typeface="CMU Serif" panose="02000603000000000000" pitchFamily="2" charset="0"/>
                <a:cs typeface="CMU Serif" panose="02000603000000000000" pitchFamily="2" charset="0"/>
              </a:rPr>
              <a:t> ?</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Qu’est ce qu’une librairie (et le CRAN) ?</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p:txBody>
      </p:sp>
      <p:pic>
        <p:nvPicPr>
          <p:cNvPr id="8" name="Image 7">
            <a:extLst>
              <a:ext uri="{FF2B5EF4-FFF2-40B4-BE49-F238E27FC236}">
                <a16:creationId xmlns:a16="http://schemas.microsoft.com/office/drawing/2014/main" id="{92E02C44-477D-C9BD-D413-4FBB3A03A61F}"/>
              </a:ext>
            </a:extLst>
          </p:cNvPr>
          <p:cNvPicPr>
            <a:picLocks noChangeAspect="1"/>
          </p:cNvPicPr>
          <p:nvPr/>
        </p:nvPicPr>
        <p:blipFill>
          <a:blip r:embed="rId2"/>
          <a:stretch>
            <a:fillRect/>
          </a:stretch>
        </p:blipFill>
        <p:spPr>
          <a:xfrm>
            <a:off x="5417713" y="1621149"/>
            <a:ext cx="6540836" cy="3868218"/>
          </a:xfrm>
          <a:prstGeom prst="rect">
            <a:avLst/>
          </a:prstGeom>
        </p:spPr>
      </p:pic>
      <p:sp>
        <p:nvSpPr>
          <p:cNvPr id="9" name="Rectangle 8">
            <a:extLst>
              <a:ext uri="{FF2B5EF4-FFF2-40B4-BE49-F238E27FC236}">
                <a16:creationId xmlns:a16="http://schemas.microsoft.com/office/drawing/2014/main" id="{C58AFCDA-796D-97A6-D818-B57BB15AFBBB}"/>
              </a:ext>
            </a:extLst>
          </p:cNvPr>
          <p:cNvSpPr/>
          <p:nvPr/>
        </p:nvSpPr>
        <p:spPr>
          <a:xfrm>
            <a:off x="5469228" y="2103549"/>
            <a:ext cx="3369972" cy="1850265"/>
          </a:xfrm>
          <a:prstGeom prst="rect">
            <a:avLst/>
          </a:prstGeom>
          <a:noFill/>
          <a:ln w="28575">
            <a:solidFill>
              <a:srgbClr val="C0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a:p>
        </p:txBody>
      </p:sp>
      <p:sp>
        <p:nvSpPr>
          <p:cNvPr id="10" name="Rectangle 9">
            <a:extLst>
              <a:ext uri="{FF2B5EF4-FFF2-40B4-BE49-F238E27FC236}">
                <a16:creationId xmlns:a16="http://schemas.microsoft.com/office/drawing/2014/main" id="{72A69661-34E0-FC21-024A-04DE685F9BD3}"/>
              </a:ext>
            </a:extLst>
          </p:cNvPr>
          <p:cNvSpPr/>
          <p:nvPr/>
        </p:nvSpPr>
        <p:spPr>
          <a:xfrm>
            <a:off x="8890715" y="2112526"/>
            <a:ext cx="3026536" cy="1888511"/>
          </a:xfrm>
          <a:prstGeom prst="rect">
            <a:avLst/>
          </a:prstGeom>
          <a:noFill/>
          <a:ln w="28575">
            <a:solidFill>
              <a:srgbClr val="00B05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a:p>
        </p:txBody>
      </p:sp>
      <p:sp>
        <p:nvSpPr>
          <p:cNvPr id="11" name="Rectangle 10">
            <a:extLst>
              <a:ext uri="{FF2B5EF4-FFF2-40B4-BE49-F238E27FC236}">
                <a16:creationId xmlns:a16="http://schemas.microsoft.com/office/drawing/2014/main" id="{F65A2B24-EECF-A931-6231-17F46554E57B}"/>
              </a:ext>
            </a:extLst>
          </p:cNvPr>
          <p:cNvSpPr/>
          <p:nvPr/>
        </p:nvSpPr>
        <p:spPr>
          <a:xfrm>
            <a:off x="8890715" y="2103549"/>
            <a:ext cx="3013655" cy="128790"/>
          </a:xfrm>
          <a:prstGeom prst="rect">
            <a:avLst/>
          </a:prstGeom>
          <a:noFill/>
          <a:ln w="28575">
            <a:solidFill>
              <a:schemeClr val="accent4"/>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159178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E727D710-0A95-B828-490D-D48FDD376BDE}"/>
              </a:ext>
            </a:extLst>
          </p:cNvPr>
          <p:cNvSpPr txBox="1"/>
          <p:nvPr/>
        </p:nvSpPr>
        <p:spPr>
          <a:xfrm>
            <a:off x="436880" y="1238833"/>
            <a:ext cx="3332480" cy="769441"/>
          </a:xfrm>
          <a:prstGeom prst="rect">
            <a:avLst/>
          </a:prstGeom>
          <a:noFill/>
        </p:spPr>
        <p:txBody>
          <a:bodyPr wrap="square" rtlCol="0">
            <a:spAutoFit/>
          </a:bodyPr>
          <a:lstStyle/>
          <a:p>
            <a:r>
              <a:rPr lang="fr-FR" sz="4400">
                <a:latin typeface="CMU Serif" panose="02000603000000000000" pitchFamily="2" charset="0"/>
                <a:ea typeface="CMU Serif" panose="02000603000000000000" pitchFamily="2" charset="0"/>
                <a:cs typeface="CMU Serif" panose="02000603000000000000" pitchFamily="2" charset="0"/>
              </a:rPr>
              <a:t>Plan</a:t>
            </a:r>
            <a:endParaRPr lang="fr-FR" sz="2400" dirty="0">
              <a:latin typeface="CMU Serif" panose="02000603000000000000" pitchFamily="2" charset="0"/>
              <a:ea typeface="CMU Serif" panose="02000603000000000000" pitchFamily="2" charset="0"/>
              <a:cs typeface="CMU Serif" panose="02000603000000000000" pitchFamily="2" charset="0"/>
            </a:endParaRPr>
          </a:p>
        </p:txBody>
      </p:sp>
      <p:sp>
        <p:nvSpPr>
          <p:cNvPr id="6" name="ZoneTexte 5">
            <a:extLst>
              <a:ext uri="{FF2B5EF4-FFF2-40B4-BE49-F238E27FC236}">
                <a16:creationId xmlns:a16="http://schemas.microsoft.com/office/drawing/2014/main" id="{757EDF44-84E3-023A-170C-6F1C4EA981C5}"/>
              </a:ext>
            </a:extLst>
          </p:cNvPr>
          <p:cNvSpPr txBox="1"/>
          <p:nvPr/>
        </p:nvSpPr>
        <p:spPr>
          <a:xfrm>
            <a:off x="436880" y="2386766"/>
            <a:ext cx="1036320" cy="1107996"/>
          </a:xfrm>
          <a:prstGeom prst="rect">
            <a:avLst/>
          </a:prstGeom>
          <a:noFill/>
        </p:spPr>
        <p:txBody>
          <a:bodyPr wrap="square" rtlCol="0">
            <a:spAutoFit/>
          </a:bodyPr>
          <a:lstStyle/>
          <a:p>
            <a:r>
              <a:rPr lang="fr-FR" sz="6600" dirty="0">
                <a:latin typeface="CMU Serif" panose="02000603000000000000" pitchFamily="2" charset="0"/>
                <a:ea typeface="CMU Serif" panose="02000603000000000000" pitchFamily="2" charset="0"/>
                <a:cs typeface="CMU Serif" panose="02000603000000000000" pitchFamily="2" charset="0"/>
              </a:rPr>
              <a:t>01</a:t>
            </a:r>
          </a:p>
        </p:txBody>
      </p:sp>
      <p:sp>
        <p:nvSpPr>
          <p:cNvPr id="9" name="ZoneTexte 8">
            <a:extLst>
              <a:ext uri="{FF2B5EF4-FFF2-40B4-BE49-F238E27FC236}">
                <a16:creationId xmlns:a16="http://schemas.microsoft.com/office/drawing/2014/main" id="{62B8F508-107C-F8B2-6A93-C57E98CED2D3}"/>
              </a:ext>
            </a:extLst>
          </p:cNvPr>
          <p:cNvSpPr txBox="1"/>
          <p:nvPr/>
        </p:nvSpPr>
        <p:spPr>
          <a:xfrm>
            <a:off x="1645920" y="2617598"/>
            <a:ext cx="2123440" cy="369332"/>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Les variables</a:t>
            </a:r>
            <a:endParaRPr lang="fr-FR" dirty="0">
              <a:latin typeface="CMU Serif" panose="02000603000000000000" pitchFamily="2" charset="0"/>
              <a:ea typeface="CMU Serif" panose="02000603000000000000" pitchFamily="2" charset="0"/>
              <a:cs typeface="CMU Serif" panose="02000603000000000000" pitchFamily="2" charset="0"/>
            </a:endParaRPr>
          </a:p>
        </p:txBody>
      </p:sp>
      <p:sp>
        <p:nvSpPr>
          <p:cNvPr id="10" name="ZoneTexte 9">
            <a:extLst>
              <a:ext uri="{FF2B5EF4-FFF2-40B4-BE49-F238E27FC236}">
                <a16:creationId xmlns:a16="http://schemas.microsoft.com/office/drawing/2014/main" id="{D1E1201D-C8FD-1FC1-1D39-AAE31AF1DBAF}"/>
              </a:ext>
            </a:extLst>
          </p:cNvPr>
          <p:cNvSpPr txBox="1"/>
          <p:nvPr/>
        </p:nvSpPr>
        <p:spPr>
          <a:xfrm>
            <a:off x="4287520" y="2386766"/>
            <a:ext cx="1036320" cy="1107996"/>
          </a:xfrm>
          <a:prstGeom prst="rect">
            <a:avLst/>
          </a:prstGeom>
          <a:noFill/>
        </p:spPr>
        <p:txBody>
          <a:bodyPr wrap="square" rtlCol="0">
            <a:spAutoFit/>
          </a:bodyPr>
          <a:lstStyle/>
          <a:p>
            <a:r>
              <a:rPr lang="fr-FR" sz="6600" dirty="0">
                <a:latin typeface="CMU Serif" panose="02000603000000000000" pitchFamily="2" charset="0"/>
                <a:ea typeface="CMU Serif" panose="02000603000000000000" pitchFamily="2" charset="0"/>
                <a:cs typeface="CMU Serif" panose="02000603000000000000" pitchFamily="2" charset="0"/>
              </a:rPr>
              <a:t>02</a:t>
            </a:r>
          </a:p>
        </p:txBody>
      </p:sp>
      <p:sp>
        <p:nvSpPr>
          <p:cNvPr id="11" name="ZoneTexte 10">
            <a:extLst>
              <a:ext uri="{FF2B5EF4-FFF2-40B4-BE49-F238E27FC236}">
                <a16:creationId xmlns:a16="http://schemas.microsoft.com/office/drawing/2014/main" id="{2F6C460B-583C-5B99-7D47-3CD353C0D3E5}"/>
              </a:ext>
            </a:extLst>
          </p:cNvPr>
          <p:cNvSpPr txBox="1"/>
          <p:nvPr/>
        </p:nvSpPr>
        <p:spPr>
          <a:xfrm>
            <a:off x="5496560" y="2617598"/>
            <a:ext cx="2123440" cy="646331"/>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Les structures de contrôle</a:t>
            </a:r>
            <a:endParaRPr lang="fr-FR" dirty="0">
              <a:latin typeface="CMU Serif" panose="02000603000000000000" pitchFamily="2" charset="0"/>
              <a:ea typeface="CMU Serif" panose="02000603000000000000" pitchFamily="2" charset="0"/>
              <a:cs typeface="CMU Serif" panose="02000603000000000000" pitchFamily="2" charset="0"/>
            </a:endParaRPr>
          </a:p>
        </p:txBody>
      </p:sp>
      <p:sp>
        <p:nvSpPr>
          <p:cNvPr id="12" name="ZoneTexte 11">
            <a:extLst>
              <a:ext uri="{FF2B5EF4-FFF2-40B4-BE49-F238E27FC236}">
                <a16:creationId xmlns:a16="http://schemas.microsoft.com/office/drawing/2014/main" id="{91E97E22-2D3A-4B0A-AC68-1AA5E87DAC82}"/>
              </a:ext>
            </a:extLst>
          </p:cNvPr>
          <p:cNvSpPr txBox="1"/>
          <p:nvPr/>
        </p:nvSpPr>
        <p:spPr>
          <a:xfrm>
            <a:off x="8138160" y="2386766"/>
            <a:ext cx="1036320" cy="1107996"/>
          </a:xfrm>
          <a:prstGeom prst="rect">
            <a:avLst/>
          </a:prstGeom>
          <a:noFill/>
        </p:spPr>
        <p:txBody>
          <a:bodyPr wrap="square" rtlCol="0">
            <a:spAutoFit/>
          </a:bodyPr>
          <a:lstStyle/>
          <a:p>
            <a:r>
              <a:rPr lang="fr-FR" sz="6600" dirty="0">
                <a:latin typeface="CMU Serif" panose="02000603000000000000" pitchFamily="2" charset="0"/>
                <a:ea typeface="CMU Serif" panose="02000603000000000000" pitchFamily="2" charset="0"/>
                <a:cs typeface="CMU Serif" panose="02000603000000000000" pitchFamily="2" charset="0"/>
              </a:rPr>
              <a:t>03</a:t>
            </a:r>
          </a:p>
        </p:txBody>
      </p:sp>
      <p:sp>
        <p:nvSpPr>
          <p:cNvPr id="13" name="ZoneTexte 12">
            <a:extLst>
              <a:ext uri="{FF2B5EF4-FFF2-40B4-BE49-F238E27FC236}">
                <a16:creationId xmlns:a16="http://schemas.microsoft.com/office/drawing/2014/main" id="{C18A4094-AB96-C4FC-0196-AB4FE9D787DD}"/>
              </a:ext>
            </a:extLst>
          </p:cNvPr>
          <p:cNvSpPr txBox="1"/>
          <p:nvPr/>
        </p:nvSpPr>
        <p:spPr>
          <a:xfrm>
            <a:off x="9347200" y="2617598"/>
            <a:ext cx="2123440" cy="369332"/>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Les fonctions</a:t>
            </a:r>
            <a:endParaRPr lang="fr-FR" dirty="0">
              <a:latin typeface="CMU Serif" panose="02000603000000000000" pitchFamily="2" charset="0"/>
              <a:ea typeface="CMU Serif" panose="02000603000000000000" pitchFamily="2" charset="0"/>
              <a:cs typeface="CMU Serif" panose="02000603000000000000" pitchFamily="2" charset="0"/>
            </a:endParaRPr>
          </a:p>
        </p:txBody>
      </p:sp>
      <p:sp>
        <p:nvSpPr>
          <p:cNvPr id="14" name="ZoneTexte 13">
            <a:extLst>
              <a:ext uri="{FF2B5EF4-FFF2-40B4-BE49-F238E27FC236}">
                <a16:creationId xmlns:a16="http://schemas.microsoft.com/office/drawing/2014/main" id="{3CD9D8F6-B68E-726F-7BD9-7ABBA74E9618}"/>
              </a:ext>
            </a:extLst>
          </p:cNvPr>
          <p:cNvSpPr txBox="1"/>
          <p:nvPr/>
        </p:nvSpPr>
        <p:spPr>
          <a:xfrm>
            <a:off x="436880" y="4089442"/>
            <a:ext cx="1036320" cy="1107996"/>
          </a:xfrm>
          <a:prstGeom prst="rect">
            <a:avLst/>
          </a:prstGeom>
          <a:noFill/>
        </p:spPr>
        <p:txBody>
          <a:bodyPr wrap="square" rtlCol="0">
            <a:spAutoFit/>
          </a:bodyPr>
          <a:lstStyle/>
          <a:p>
            <a:r>
              <a:rPr lang="fr-FR" sz="6600" dirty="0">
                <a:latin typeface="CMU Serif" panose="02000603000000000000" pitchFamily="2" charset="0"/>
                <a:ea typeface="CMU Serif" panose="02000603000000000000" pitchFamily="2" charset="0"/>
                <a:cs typeface="CMU Serif" panose="02000603000000000000" pitchFamily="2" charset="0"/>
              </a:rPr>
              <a:t>04</a:t>
            </a:r>
          </a:p>
        </p:txBody>
      </p:sp>
      <p:sp>
        <p:nvSpPr>
          <p:cNvPr id="15" name="ZoneTexte 14">
            <a:extLst>
              <a:ext uri="{FF2B5EF4-FFF2-40B4-BE49-F238E27FC236}">
                <a16:creationId xmlns:a16="http://schemas.microsoft.com/office/drawing/2014/main" id="{A8968CA6-0684-0A3A-8E2F-865C2871ABA4}"/>
              </a:ext>
            </a:extLst>
          </p:cNvPr>
          <p:cNvSpPr txBox="1"/>
          <p:nvPr/>
        </p:nvSpPr>
        <p:spPr>
          <a:xfrm>
            <a:off x="1645920" y="4320274"/>
            <a:ext cx="2123440" cy="646331"/>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Manipuler les dataframes</a:t>
            </a:r>
            <a:endParaRPr lang="fr-FR" dirty="0">
              <a:latin typeface="CMU Serif" panose="02000603000000000000" pitchFamily="2" charset="0"/>
              <a:ea typeface="CMU Serif" panose="02000603000000000000" pitchFamily="2" charset="0"/>
              <a:cs typeface="CMU Serif" panose="02000603000000000000" pitchFamily="2" charset="0"/>
            </a:endParaRPr>
          </a:p>
        </p:txBody>
      </p:sp>
      <p:sp>
        <p:nvSpPr>
          <p:cNvPr id="16" name="ZoneTexte 15">
            <a:extLst>
              <a:ext uri="{FF2B5EF4-FFF2-40B4-BE49-F238E27FC236}">
                <a16:creationId xmlns:a16="http://schemas.microsoft.com/office/drawing/2014/main" id="{A69023EE-FE8A-883D-B514-FDF44EFBB767}"/>
              </a:ext>
            </a:extLst>
          </p:cNvPr>
          <p:cNvSpPr txBox="1"/>
          <p:nvPr/>
        </p:nvSpPr>
        <p:spPr>
          <a:xfrm>
            <a:off x="4287520" y="4089442"/>
            <a:ext cx="1036320" cy="1107996"/>
          </a:xfrm>
          <a:prstGeom prst="rect">
            <a:avLst/>
          </a:prstGeom>
          <a:noFill/>
        </p:spPr>
        <p:txBody>
          <a:bodyPr wrap="square" rtlCol="0">
            <a:spAutoFit/>
          </a:bodyPr>
          <a:lstStyle/>
          <a:p>
            <a:r>
              <a:rPr lang="fr-FR" sz="6600" dirty="0">
                <a:latin typeface="CMU Serif" panose="02000603000000000000" pitchFamily="2" charset="0"/>
                <a:ea typeface="CMU Serif" panose="02000603000000000000" pitchFamily="2" charset="0"/>
                <a:cs typeface="CMU Serif" panose="02000603000000000000" pitchFamily="2" charset="0"/>
              </a:rPr>
              <a:t>05</a:t>
            </a:r>
          </a:p>
        </p:txBody>
      </p:sp>
      <p:sp>
        <p:nvSpPr>
          <p:cNvPr id="17" name="ZoneTexte 16">
            <a:extLst>
              <a:ext uri="{FF2B5EF4-FFF2-40B4-BE49-F238E27FC236}">
                <a16:creationId xmlns:a16="http://schemas.microsoft.com/office/drawing/2014/main" id="{F85AA469-3F34-1316-9C2C-0948F339D56E}"/>
              </a:ext>
            </a:extLst>
          </p:cNvPr>
          <p:cNvSpPr txBox="1"/>
          <p:nvPr/>
        </p:nvSpPr>
        <p:spPr>
          <a:xfrm>
            <a:off x="5496559" y="4320274"/>
            <a:ext cx="2398189" cy="369332"/>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Les séries temporelles</a:t>
            </a:r>
            <a:endParaRPr lang="fr-FR" dirty="0">
              <a:latin typeface="CMU Serif" panose="02000603000000000000" pitchFamily="2" charset="0"/>
              <a:ea typeface="CMU Serif" panose="02000603000000000000" pitchFamily="2" charset="0"/>
              <a:cs typeface="CMU Serif" panose="02000603000000000000" pitchFamily="2" charset="0"/>
            </a:endParaRPr>
          </a:p>
        </p:txBody>
      </p:sp>
      <p:sp>
        <p:nvSpPr>
          <p:cNvPr id="26" name="Espace réservé du numéro de diapositive 3">
            <a:extLst>
              <a:ext uri="{FF2B5EF4-FFF2-40B4-BE49-F238E27FC236}">
                <a16:creationId xmlns:a16="http://schemas.microsoft.com/office/drawing/2014/main" id="{60DEFCA7-6531-7A4C-33B0-989D3205D06A}"/>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3</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3747493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1 - Les variables</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4</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15" name="ZoneTexte 14">
            <a:extLst>
              <a:ext uri="{FF2B5EF4-FFF2-40B4-BE49-F238E27FC236}">
                <a16:creationId xmlns:a16="http://schemas.microsoft.com/office/drawing/2014/main" id="{298DA1BD-7969-D1A6-C722-D32CB56603EB}"/>
              </a:ext>
            </a:extLst>
          </p:cNvPr>
          <p:cNvSpPr txBox="1"/>
          <p:nvPr/>
        </p:nvSpPr>
        <p:spPr>
          <a:xfrm>
            <a:off x="541150" y="1755216"/>
            <a:ext cx="6353339" cy="3970318"/>
          </a:xfrm>
          <a:prstGeom prst="rect">
            <a:avLst/>
          </a:prstGeom>
          <a:noFill/>
        </p:spPr>
        <p:txBody>
          <a:bodyPr wrap="square" rtlCol="0">
            <a:spAutoFit/>
          </a:bodyPr>
          <a:lstStyle/>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Les types</a:t>
            </a:r>
          </a:p>
          <a:p>
            <a:pPr marL="800100" lvl="1" indent="-34290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Chaines de caractères: </a:t>
            </a:r>
            <a:r>
              <a:rPr lang="fr-FR" b="1">
                <a:latin typeface="CMU Serif" panose="02000603000000000000" pitchFamily="2" charset="0"/>
                <a:ea typeface="CMU Serif" panose="02000603000000000000" pitchFamily="2" charset="0"/>
                <a:cs typeface="CMU Serif" panose="02000603000000000000" pitchFamily="2" charset="0"/>
              </a:rPr>
              <a:t>character</a:t>
            </a:r>
          </a:p>
          <a:p>
            <a:pPr marL="800100" lvl="1" indent="-34290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Numériques: </a:t>
            </a:r>
            <a:r>
              <a:rPr lang="fr-FR" b="1">
                <a:latin typeface="CMU Serif" panose="02000603000000000000" pitchFamily="2" charset="0"/>
                <a:ea typeface="CMU Serif" panose="02000603000000000000" pitchFamily="2" charset="0"/>
                <a:cs typeface="CMU Serif" panose="02000603000000000000" pitchFamily="2" charset="0"/>
              </a:rPr>
              <a:t>numeric</a:t>
            </a:r>
          </a:p>
          <a:p>
            <a:pPr marL="800100" lvl="1" indent="-34290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Booleens: </a:t>
            </a:r>
            <a:r>
              <a:rPr lang="fr-FR" b="1">
                <a:latin typeface="CMU Serif" panose="02000603000000000000" pitchFamily="2" charset="0"/>
                <a:ea typeface="CMU Serif" panose="02000603000000000000" pitchFamily="2" charset="0"/>
                <a:cs typeface="CMU Serif" panose="02000603000000000000" pitchFamily="2" charset="0"/>
              </a:rPr>
              <a:t>logical</a:t>
            </a:r>
          </a:p>
          <a:p>
            <a:pPr marL="800100" lvl="1" indent="-34290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Vide: </a:t>
            </a:r>
            <a:r>
              <a:rPr lang="fr-FR" b="1">
                <a:latin typeface="CMU Serif" panose="02000603000000000000" pitchFamily="2" charset="0"/>
                <a:ea typeface="CMU Serif" panose="02000603000000000000" pitchFamily="2" charset="0"/>
                <a:cs typeface="CMU Serif" panose="02000603000000000000" pitchFamily="2" charset="0"/>
              </a:rPr>
              <a:t>NULL</a:t>
            </a:r>
          </a:p>
          <a:p>
            <a:pPr marL="800100" lvl="1" indent="-342900">
              <a:buFont typeface="Arial" panose="020B0604020202020204" pitchFamily="34" charset="0"/>
              <a:buChar char="•"/>
            </a:pPr>
            <a:endParaRPr lang="fr-FR" b="1">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Les vecteurs: c(1, 2, « Hello »)</a:t>
            </a:r>
          </a:p>
          <a:p>
            <a:pPr marL="800100" lvl="1" indent="-34290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Afficher un résultat: </a:t>
            </a:r>
            <a:r>
              <a:rPr lang="fr-FR" b="1">
                <a:latin typeface="CMU Serif" panose="02000603000000000000" pitchFamily="2" charset="0"/>
                <a:ea typeface="CMU Serif" panose="02000603000000000000" pitchFamily="2" charset="0"/>
                <a:cs typeface="CMU Serif" panose="02000603000000000000" pitchFamily="2" charset="0"/>
              </a:rPr>
              <a:t>paste</a:t>
            </a:r>
            <a:r>
              <a:rPr lang="fr-FR">
                <a:latin typeface="CMU Serif" panose="02000603000000000000" pitchFamily="2" charset="0"/>
                <a:ea typeface="CMU Serif" panose="02000603000000000000" pitchFamily="2" charset="0"/>
                <a:cs typeface="CMU Serif" panose="02000603000000000000" pitchFamily="2" charset="0"/>
              </a:rPr>
              <a:t>,</a:t>
            </a:r>
            <a:r>
              <a:rPr lang="fr-FR" b="1">
                <a:latin typeface="CMU Serif" panose="02000603000000000000" pitchFamily="2" charset="0"/>
                <a:ea typeface="CMU Serif" panose="02000603000000000000" pitchFamily="2" charset="0"/>
                <a:cs typeface="CMU Serif" panose="02000603000000000000" pitchFamily="2" charset="0"/>
              </a:rPr>
              <a:t> paste0</a:t>
            </a:r>
            <a:r>
              <a:rPr lang="fr-FR">
                <a:latin typeface="CMU Serif" panose="02000603000000000000" pitchFamily="2" charset="0"/>
                <a:ea typeface="CMU Serif" panose="02000603000000000000" pitchFamily="2" charset="0"/>
                <a:cs typeface="CMU Serif" panose="02000603000000000000" pitchFamily="2" charset="0"/>
              </a:rPr>
              <a:t>, </a:t>
            </a:r>
            <a:r>
              <a:rPr lang="fr-FR" b="1">
                <a:latin typeface="CMU Serif" panose="02000603000000000000" pitchFamily="2" charset="0"/>
                <a:ea typeface="CMU Serif" panose="02000603000000000000" pitchFamily="2" charset="0"/>
                <a:cs typeface="CMU Serif" panose="02000603000000000000" pitchFamily="2" charset="0"/>
              </a:rPr>
              <a:t>print</a:t>
            </a:r>
            <a:r>
              <a:rPr lang="fr-FR">
                <a:latin typeface="CMU Serif" panose="02000603000000000000" pitchFamily="2" charset="0"/>
                <a:ea typeface="CMU Serif" panose="02000603000000000000" pitchFamily="2" charset="0"/>
                <a:cs typeface="CMU Serif" panose="02000603000000000000" pitchFamily="2" charset="0"/>
              </a:rPr>
              <a:t>, </a:t>
            </a:r>
            <a:r>
              <a:rPr lang="fr-FR" b="1">
                <a:latin typeface="CMU Serif" panose="02000603000000000000" pitchFamily="2" charset="0"/>
                <a:ea typeface="CMU Serif" panose="02000603000000000000" pitchFamily="2" charset="0"/>
                <a:cs typeface="CMU Serif" panose="02000603000000000000" pitchFamily="2" charset="0"/>
              </a:rPr>
              <a:t>cat</a:t>
            </a:r>
            <a:r>
              <a:rPr lang="fr-FR">
                <a:latin typeface="CMU Serif" panose="02000603000000000000" pitchFamily="2" charset="0"/>
                <a:ea typeface="CMU Serif" panose="02000603000000000000" pitchFamily="2" charset="0"/>
                <a:cs typeface="CMU Serif" panose="02000603000000000000" pitchFamily="2" charset="0"/>
              </a:rPr>
              <a:t>, </a:t>
            </a:r>
            <a:r>
              <a:rPr lang="fr-FR" b="1">
                <a:latin typeface="CMU Serif" panose="02000603000000000000" pitchFamily="2" charset="0"/>
                <a:ea typeface="CMU Serif" panose="02000603000000000000" pitchFamily="2" charset="0"/>
                <a:cs typeface="CMU Serif" panose="02000603000000000000" pitchFamily="2" charset="0"/>
              </a:rPr>
              <a:t>sprintf</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Importer un fichier</a:t>
            </a:r>
          </a:p>
          <a:p>
            <a:pPr marL="800100" lvl="1" indent="-34290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Chemin relatif vs absolue (./,  ../)</a:t>
            </a:r>
          </a:p>
          <a:p>
            <a:pPr marL="800100" lvl="1" indent="-34290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csv, xlsx</a:t>
            </a:r>
          </a:p>
          <a:p>
            <a:pPr marL="800100" lvl="1" indent="-34290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Vérifier les types des colonnes</a:t>
            </a:r>
          </a:p>
        </p:txBody>
      </p:sp>
      <p:sp>
        <p:nvSpPr>
          <p:cNvPr id="9" name="ZoneTexte 8">
            <a:extLst>
              <a:ext uri="{FF2B5EF4-FFF2-40B4-BE49-F238E27FC236}">
                <a16:creationId xmlns:a16="http://schemas.microsoft.com/office/drawing/2014/main" id="{DBBD99AD-C9D1-CDCD-974E-C6C839D2181E}"/>
              </a:ext>
            </a:extLst>
          </p:cNvPr>
          <p:cNvSpPr txBox="1"/>
          <p:nvPr/>
        </p:nvSpPr>
        <p:spPr>
          <a:xfrm>
            <a:off x="7203583" y="875764"/>
            <a:ext cx="4228564" cy="5262979"/>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fr-FR" sz="1400">
                <a:solidFill>
                  <a:schemeClr val="accent6">
                    <a:lumMod val="60000"/>
                    <a:lumOff val="40000"/>
                  </a:schemeClr>
                </a:solidFill>
              </a:rPr>
              <a:t># Affecte la valeur 5 à la variable 'a'</a:t>
            </a:r>
          </a:p>
          <a:p>
            <a:r>
              <a:rPr lang="fr-FR" sz="1400"/>
              <a:t>a = "5"</a:t>
            </a:r>
          </a:p>
          <a:p>
            <a:r>
              <a:rPr lang="fr-FR" sz="1400"/>
              <a:t>a &lt;- "5"</a:t>
            </a:r>
          </a:p>
          <a:p>
            <a:endParaRPr lang="fr-FR" sz="1400"/>
          </a:p>
          <a:p>
            <a:r>
              <a:rPr lang="fr-FR" sz="1400">
                <a:solidFill>
                  <a:schemeClr val="accent6">
                    <a:lumMod val="60000"/>
                    <a:lumOff val="40000"/>
                  </a:schemeClr>
                </a:solidFill>
              </a:rPr>
              <a:t># Affiche le type de 'a'</a:t>
            </a:r>
          </a:p>
          <a:p>
            <a:r>
              <a:rPr lang="fr-FR" sz="1400"/>
              <a:t>class(a)</a:t>
            </a:r>
          </a:p>
          <a:p>
            <a:endParaRPr lang="fr-FR" sz="1400"/>
          </a:p>
          <a:p>
            <a:r>
              <a:rPr lang="fr-FR" sz="1400">
                <a:solidFill>
                  <a:schemeClr val="accent6">
                    <a:lumMod val="60000"/>
                    <a:lumOff val="40000"/>
                  </a:schemeClr>
                </a:solidFill>
              </a:rPr>
              <a:t># Incrémente la variable 'a' de 2</a:t>
            </a:r>
          </a:p>
          <a:p>
            <a:r>
              <a:rPr lang="fr-FR" sz="1400"/>
              <a:t>a = a + 2</a:t>
            </a:r>
          </a:p>
          <a:p>
            <a:endParaRPr lang="fr-FR" sz="1400"/>
          </a:p>
          <a:p>
            <a:r>
              <a:rPr lang="fr-FR" sz="1400">
                <a:solidFill>
                  <a:schemeClr val="accent6">
                    <a:lumMod val="60000"/>
                    <a:lumOff val="40000"/>
                  </a:schemeClr>
                </a:solidFill>
              </a:rPr>
              <a:t># Change le type de 'a'</a:t>
            </a:r>
          </a:p>
          <a:p>
            <a:r>
              <a:rPr lang="fr-FR" sz="1400"/>
              <a:t>a = as.numeric(a)</a:t>
            </a:r>
          </a:p>
          <a:p>
            <a:endParaRPr lang="fr-FR" sz="1400"/>
          </a:p>
          <a:p>
            <a:r>
              <a:rPr lang="fr-FR" sz="1400">
                <a:solidFill>
                  <a:schemeClr val="accent6">
                    <a:lumMod val="60000"/>
                    <a:lumOff val="40000"/>
                  </a:schemeClr>
                </a:solidFill>
              </a:rPr>
              <a:t># Incrémente la variable 'a' de 2</a:t>
            </a:r>
          </a:p>
          <a:p>
            <a:r>
              <a:rPr lang="fr-FR" sz="1400"/>
              <a:t>a + 2</a:t>
            </a:r>
          </a:p>
          <a:p>
            <a:r>
              <a:rPr lang="fr-FR" sz="1400"/>
              <a:t>a = a + 2</a:t>
            </a:r>
          </a:p>
          <a:p>
            <a:endParaRPr lang="fr-FR" sz="1400"/>
          </a:p>
          <a:p>
            <a:r>
              <a:rPr lang="fr-FR" sz="1400">
                <a:solidFill>
                  <a:schemeClr val="accent6">
                    <a:lumMod val="60000"/>
                    <a:lumOff val="40000"/>
                  </a:schemeClr>
                </a:solidFill>
              </a:rPr>
              <a:t># Affichage dynamique basé sur la valeur de 'a'</a:t>
            </a:r>
          </a:p>
          <a:p>
            <a:r>
              <a:rPr lang="fr-FR" sz="1400"/>
              <a:t>paste("La valeur de a est", a)</a:t>
            </a:r>
          </a:p>
          <a:p>
            <a:r>
              <a:rPr lang="fr-FR" sz="1400"/>
              <a:t>paste0("La valeur de a est ", a)</a:t>
            </a:r>
          </a:p>
          <a:p>
            <a:r>
              <a:rPr lang="fr-FR" sz="1400"/>
              <a:t>print(paste("La valeur de a est", a))</a:t>
            </a:r>
          </a:p>
          <a:p>
            <a:r>
              <a:rPr lang="fr-FR" sz="1400"/>
              <a:t>cat("La valeur de a est", a)</a:t>
            </a:r>
          </a:p>
          <a:p>
            <a:r>
              <a:rPr lang="fr-FR" sz="1400"/>
              <a:t>sprintf("La valeur de a est %s",a)</a:t>
            </a:r>
          </a:p>
          <a:p>
            <a:endParaRPr lang="fr-FR" sz="1400"/>
          </a:p>
        </p:txBody>
      </p:sp>
    </p:spTree>
    <p:extLst>
      <p:ext uri="{BB962C8B-B14F-4D97-AF65-F5344CB8AC3E}">
        <p14:creationId xmlns:p14="http://schemas.microsoft.com/office/powerpoint/2010/main" val="1628843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1 – Chemins relatifs et absolus</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5</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pic>
        <p:nvPicPr>
          <p:cNvPr id="5" name="Image 4">
            <a:extLst>
              <a:ext uri="{FF2B5EF4-FFF2-40B4-BE49-F238E27FC236}">
                <a16:creationId xmlns:a16="http://schemas.microsoft.com/office/drawing/2014/main" id="{048D685A-50D2-8CAC-AA00-B0BAA2B3CCCC}"/>
              </a:ext>
            </a:extLst>
          </p:cNvPr>
          <p:cNvPicPr>
            <a:picLocks noChangeAspect="1"/>
          </p:cNvPicPr>
          <p:nvPr/>
        </p:nvPicPr>
        <p:blipFill rotWithShape="1">
          <a:blip r:embed="rId2"/>
          <a:srcRect t="17903" r="25587" b="61877"/>
          <a:stretch/>
        </p:blipFill>
        <p:spPr>
          <a:xfrm>
            <a:off x="193185" y="1043323"/>
            <a:ext cx="7929092" cy="1346528"/>
          </a:xfrm>
          <a:prstGeom prst="rect">
            <a:avLst/>
          </a:prstGeom>
        </p:spPr>
      </p:pic>
      <p:sp>
        <p:nvSpPr>
          <p:cNvPr id="8" name="Rectangle 7">
            <a:extLst>
              <a:ext uri="{FF2B5EF4-FFF2-40B4-BE49-F238E27FC236}">
                <a16:creationId xmlns:a16="http://schemas.microsoft.com/office/drawing/2014/main" id="{EE4B640C-8B91-D94D-3B65-5E9B668DFFCE}"/>
              </a:ext>
            </a:extLst>
          </p:cNvPr>
          <p:cNvSpPr/>
          <p:nvPr/>
        </p:nvSpPr>
        <p:spPr>
          <a:xfrm>
            <a:off x="1060361" y="1043322"/>
            <a:ext cx="2253803" cy="2661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BCA975CA-1120-8F58-6C42-F49F716B3723}"/>
              </a:ext>
            </a:extLst>
          </p:cNvPr>
          <p:cNvSpPr txBox="1"/>
          <p:nvPr/>
        </p:nvSpPr>
        <p:spPr>
          <a:xfrm>
            <a:off x="394952" y="706444"/>
            <a:ext cx="5817618" cy="369332"/>
          </a:xfrm>
          <a:prstGeom prst="rect">
            <a:avLst/>
          </a:prstGeom>
          <a:noFill/>
        </p:spPr>
        <p:txBody>
          <a:bodyPr wrap="non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Etant donné un repertoire de travail fixé à cet endroit :</a:t>
            </a:r>
          </a:p>
        </p:txBody>
      </p:sp>
      <p:sp>
        <p:nvSpPr>
          <p:cNvPr id="14" name="ZoneTexte 13">
            <a:extLst>
              <a:ext uri="{FF2B5EF4-FFF2-40B4-BE49-F238E27FC236}">
                <a16:creationId xmlns:a16="http://schemas.microsoft.com/office/drawing/2014/main" id="{0171970E-5C31-85EF-7D49-8A97F7767C75}"/>
              </a:ext>
            </a:extLst>
          </p:cNvPr>
          <p:cNvSpPr txBox="1"/>
          <p:nvPr/>
        </p:nvSpPr>
        <p:spPr>
          <a:xfrm>
            <a:off x="60543" y="3208743"/>
            <a:ext cx="7580921" cy="646331"/>
          </a:xfrm>
          <a:prstGeom prst="rect">
            <a:avLst/>
          </a:prstGeom>
          <a:noFill/>
        </p:spPr>
        <p:txBody>
          <a:bodyPr wrap="none" rtlCol="0">
            <a:spAutoFit/>
          </a:bodyPr>
          <a:lstStyle/>
          <a:p>
            <a:r>
              <a:rPr lang="fr-FR" b="1">
                <a:latin typeface="CMU Serif" panose="02000603000000000000" pitchFamily="2" charset="0"/>
                <a:ea typeface="CMU Serif" panose="02000603000000000000" pitchFamily="2" charset="0"/>
                <a:cs typeface="CMU Serif" panose="02000603000000000000" pitchFamily="2" charset="0"/>
              </a:rPr>
              <a:t>Chemin absolu</a:t>
            </a:r>
            <a:r>
              <a:rPr lang="fr-FR">
                <a:latin typeface="CMU Serif" panose="02000603000000000000" pitchFamily="2" charset="0"/>
                <a:ea typeface="CMU Serif" panose="02000603000000000000" pitchFamily="2" charset="0"/>
                <a:cs typeface="CMU Serif" panose="02000603000000000000" pitchFamily="2" charset="0"/>
              </a:rPr>
              <a:t> : « C:\Users\DidierLIRON\Desktop\cours_M1_IEF </a:t>
            </a:r>
            <a:r>
              <a:rPr lang="fr-FR" b="1">
                <a:latin typeface="CMU Serif" panose="02000603000000000000" pitchFamily="2" charset="0"/>
                <a:ea typeface="CMU Serif" panose="02000603000000000000" pitchFamily="2" charset="0"/>
                <a:cs typeface="CMU Serif" panose="02000603000000000000" pitchFamily="2" charset="0"/>
              </a:rPr>
              <a:t>»</a:t>
            </a:r>
          </a:p>
          <a:p>
            <a:r>
              <a:rPr lang="fr-FR" b="1">
                <a:latin typeface="CMU Serif" panose="02000603000000000000" pitchFamily="2" charset="0"/>
                <a:ea typeface="CMU Serif" panose="02000603000000000000" pitchFamily="2" charset="0"/>
                <a:cs typeface="CMU Serif" panose="02000603000000000000" pitchFamily="2" charset="0"/>
              </a:rPr>
              <a:t>Chemin relatif </a:t>
            </a:r>
            <a:r>
              <a:rPr lang="fr-FR">
                <a:latin typeface="CMU Serif" panose="02000603000000000000" pitchFamily="2" charset="0"/>
                <a:ea typeface="CMU Serif" panose="02000603000000000000" pitchFamily="2" charset="0"/>
                <a:cs typeface="CMU Serif" panose="02000603000000000000" pitchFamily="2" charset="0"/>
              </a:rPr>
              <a:t>: « . »</a:t>
            </a:r>
          </a:p>
        </p:txBody>
      </p:sp>
      <p:cxnSp>
        <p:nvCxnSpPr>
          <p:cNvPr id="16" name="Connecteur droit avec flèche 15">
            <a:extLst>
              <a:ext uri="{FF2B5EF4-FFF2-40B4-BE49-F238E27FC236}">
                <a16:creationId xmlns:a16="http://schemas.microsoft.com/office/drawing/2014/main" id="{221E0A6E-5354-FCC9-C414-89B1EA2DA652}"/>
              </a:ext>
            </a:extLst>
          </p:cNvPr>
          <p:cNvCxnSpPr>
            <a:cxnSpLocks/>
            <a:stCxn id="14" idx="0"/>
            <a:endCxn id="8" idx="2"/>
          </p:cNvCxnSpPr>
          <p:nvPr/>
        </p:nvCxnSpPr>
        <p:spPr>
          <a:xfrm flipH="1" flipV="1">
            <a:off x="2187263" y="1309486"/>
            <a:ext cx="1663741" cy="18992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ZoneTexte 16">
            <a:extLst>
              <a:ext uri="{FF2B5EF4-FFF2-40B4-BE49-F238E27FC236}">
                <a16:creationId xmlns:a16="http://schemas.microsoft.com/office/drawing/2014/main" id="{5DA95700-2F7C-5EF9-E3BE-669C62B78055}"/>
              </a:ext>
            </a:extLst>
          </p:cNvPr>
          <p:cNvSpPr txBox="1"/>
          <p:nvPr/>
        </p:nvSpPr>
        <p:spPr>
          <a:xfrm>
            <a:off x="364902" y="4252425"/>
            <a:ext cx="7090403" cy="2031325"/>
          </a:xfrm>
          <a:prstGeom prst="rect">
            <a:avLst/>
          </a:prstGeom>
          <a:noFill/>
        </p:spPr>
        <p:txBody>
          <a:bodyPr wrap="non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Pour aller chercher un fichier dans le repertoire input : </a:t>
            </a:r>
          </a:p>
          <a:p>
            <a:r>
              <a:rPr lang="fr-FR">
                <a:latin typeface="CMU Serif" panose="02000603000000000000" pitchFamily="2" charset="0"/>
                <a:ea typeface="CMU Serif" panose="02000603000000000000" pitchFamily="2" charset="0"/>
                <a:cs typeface="CMU Serif" panose="02000603000000000000" pitchFamily="2" charset="0"/>
              </a:rPr>
              <a:t>	./input/[monFichier]</a:t>
            </a:r>
          </a:p>
          <a:p>
            <a:r>
              <a:rPr lang="fr-FR">
                <a:latin typeface="CMU Serif" panose="02000603000000000000" pitchFamily="2" charset="0"/>
                <a:ea typeface="CMU Serif" panose="02000603000000000000" pitchFamily="2" charset="0"/>
                <a:cs typeface="CMU Serif" panose="02000603000000000000" pitchFamily="2" charset="0"/>
              </a:rPr>
              <a:t>		  Pointe sur le repertoire </a:t>
            </a:r>
            <a:r>
              <a:rPr lang="fr-FR" b="1">
                <a:latin typeface="CMU Serif" panose="02000603000000000000" pitchFamily="2" charset="0"/>
                <a:ea typeface="CMU Serif" panose="02000603000000000000" pitchFamily="2" charset="0"/>
                <a:cs typeface="CMU Serif" panose="02000603000000000000" pitchFamily="2" charset="0"/>
              </a:rPr>
              <a:t>courant</a:t>
            </a:r>
          </a:p>
          <a:p>
            <a:endParaRPr lang="fr-FR">
              <a:latin typeface="CMU Serif" panose="02000603000000000000" pitchFamily="2" charset="0"/>
              <a:ea typeface="CMU Serif" panose="02000603000000000000" pitchFamily="2" charset="0"/>
              <a:cs typeface="CMU Serif" panose="02000603000000000000" pitchFamily="2" charset="0"/>
            </a:endParaRPr>
          </a:p>
          <a:p>
            <a:r>
              <a:rPr lang="fr-FR">
                <a:latin typeface="CMU Serif" panose="02000603000000000000" pitchFamily="2" charset="0"/>
                <a:ea typeface="CMU Serif" panose="02000603000000000000" pitchFamily="2" charset="0"/>
                <a:cs typeface="CMU Serif" panose="02000603000000000000" pitchFamily="2" charset="0"/>
              </a:rPr>
              <a:t>Pour allercherche un fichier dans le repertoire précédent (Desktop): </a:t>
            </a:r>
          </a:p>
          <a:p>
            <a:r>
              <a:rPr lang="fr-FR">
                <a:latin typeface="CMU Serif" panose="02000603000000000000" pitchFamily="2" charset="0"/>
                <a:ea typeface="CMU Serif" panose="02000603000000000000" pitchFamily="2" charset="0"/>
                <a:cs typeface="CMU Serif" panose="02000603000000000000" pitchFamily="2" charset="0"/>
              </a:rPr>
              <a:t>	../[monFichier]</a:t>
            </a:r>
          </a:p>
          <a:p>
            <a:r>
              <a:rPr lang="fr-FR">
                <a:latin typeface="CMU Serif" panose="02000603000000000000" pitchFamily="2" charset="0"/>
                <a:ea typeface="CMU Serif" panose="02000603000000000000" pitchFamily="2" charset="0"/>
                <a:cs typeface="CMU Serif" panose="02000603000000000000" pitchFamily="2" charset="0"/>
              </a:rPr>
              <a:t>		   Pointe sur le repertoire </a:t>
            </a:r>
            <a:r>
              <a:rPr lang="fr-FR" b="1">
                <a:latin typeface="CMU Serif" panose="02000603000000000000" pitchFamily="2" charset="0"/>
                <a:ea typeface="CMU Serif" panose="02000603000000000000" pitchFamily="2" charset="0"/>
                <a:cs typeface="CMU Serif" panose="02000603000000000000" pitchFamily="2" charset="0"/>
              </a:rPr>
              <a:t>précédent</a:t>
            </a:r>
          </a:p>
        </p:txBody>
      </p:sp>
      <p:sp>
        <p:nvSpPr>
          <p:cNvPr id="18" name="Rectangle 17">
            <a:extLst>
              <a:ext uri="{FF2B5EF4-FFF2-40B4-BE49-F238E27FC236}">
                <a16:creationId xmlns:a16="http://schemas.microsoft.com/office/drawing/2014/main" id="{4F854B7B-FEEA-F4E8-B61F-0E6F11DB5F10}"/>
              </a:ext>
            </a:extLst>
          </p:cNvPr>
          <p:cNvSpPr/>
          <p:nvPr/>
        </p:nvSpPr>
        <p:spPr>
          <a:xfrm>
            <a:off x="1195589" y="5654515"/>
            <a:ext cx="414270" cy="321733"/>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9B1F427A-45C2-A989-B586-0293CBE0AD83}"/>
              </a:ext>
            </a:extLst>
          </p:cNvPr>
          <p:cNvSpPr/>
          <p:nvPr/>
        </p:nvSpPr>
        <p:spPr>
          <a:xfrm>
            <a:off x="1145147" y="4563087"/>
            <a:ext cx="414270" cy="321733"/>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1" name="Connecteur : en angle 20">
            <a:extLst>
              <a:ext uri="{FF2B5EF4-FFF2-40B4-BE49-F238E27FC236}">
                <a16:creationId xmlns:a16="http://schemas.microsoft.com/office/drawing/2014/main" id="{86657AEC-7C4E-000B-FC29-4D9BF5B85265}"/>
              </a:ext>
            </a:extLst>
          </p:cNvPr>
          <p:cNvCxnSpPr>
            <a:cxnSpLocks/>
            <a:stCxn id="19" idx="2"/>
          </p:cNvCxnSpPr>
          <p:nvPr/>
        </p:nvCxnSpPr>
        <p:spPr>
          <a:xfrm rot="16200000" flipH="1">
            <a:off x="1793323" y="4443779"/>
            <a:ext cx="105298" cy="987380"/>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3" name="Connecteur : en angle 22">
            <a:extLst>
              <a:ext uri="{FF2B5EF4-FFF2-40B4-BE49-F238E27FC236}">
                <a16:creationId xmlns:a16="http://schemas.microsoft.com/office/drawing/2014/main" id="{43F47083-770F-9964-475D-E1FD85B753C1}"/>
              </a:ext>
            </a:extLst>
          </p:cNvPr>
          <p:cNvCxnSpPr>
            <a:cxnSpLocks/>
          </p:cNvCxnSpPr>
          <p:nvPr/>
        </p:nvCxnSpPr>
        <p:spPr>
          <a:xfrm rot="16200000" flipH="1">
            <a:off x="1843765" y="5545015"/>
            <a:ext cx="105298" cy="987380"/>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sp>
        <p:nvSpPr>
          <p:cNvPr id="24" name="ZoneTexte 23">
            <a:extLst>
              <a:ext uri="{FF2B5EF4-FFF2-40B4-BE49-F238E27FC236}">
                <a16:creationId xmlns:a16="http://schemas.microsoft.com/office/drawing/2014/main" id="{E3C872EA-39D8-65F6-8155-6EA0ECE26480}"/>
              </a:ext>
            </a:extLst>
          </p:cNvPr>
          <p:cNvSpPr txBox="1"/>
          <p:nvPr/>
        </p:nvSpPr>
        <p:spPr>
          <a:xfrm>
            <a:off x="7577070" y="2477651"/>
            <a:ext cx="4614930" cy="375487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fr-FR" sz="1400">
                <a:solidFill>
                  <a:schemeClr val="accent6">
                    <a:lumMod val="60000"/>
                    <a:lumOff val="40000"/>
                  </a:schemeClr>
                </a:solidFill>
              </a:rPr>
              <a:t># Fixe le repertoire de travail</a:t>
            </a:r>
          </a:p>
          <a:p>
            <a:r>
              <a:rPr lang="fr-FR" sz="1400">
                <a:solidFill>
                  <a:schemeClr val="bg1"/>
                </a:solidFill>
              </a:rPr>
              <a:t>setwd(« C:\Users\DidierLIRON\Desktop\cours_M1_IEF »)</a:t>
            </a:r>
          </a:p>
          <a:p>
            <a:endParaRPr lang="fr-FR" sz="1400"/>
          </a:p>
          <a:p>
            <a:r>
              <a:rPr lang="fr-FR" sz="1400">
                <a:solidFill>
                  <a:schemeClr val="accent6">
                    <a:lumMod val="60000"/>
                    <a:lumOff val="40000"/>
                  </a:schemeClr>
                </a:solidFill>
              </a:rPr>
              <a:t># Lire le fichier data.csv situé dans le repertoire input</a:t>
            </a:r>
          </a:p>
          <a:p>
            <a:r>
              <a:rPr lang="fr-FR" sz="1400">
                <a:solidFill>
                  <a:schemeClr val="accent6">
                    <a:lumMod val="60000"/>
                    <a:lumOff val="40000"/>
                  </a:schemeClr>
                </a:solidFill>
              </a:rPr>
              <a:t># Chemin absolu</a:t>
            </a:r>
          </a:p>
          <a:p>
            <a:r>
              <a:rPr lang="fr-FR" sz="1400"/>
              <a:t>read.csv(« </a:t>
            </a:r>
            <a:r>
              <a:rPr lang="fr-FR" sz="1400">
                <a:solidFill>
                  <a:schemeClr val="bg1"/>
                </a:solidFill>
              </a:rPr>
              <a:t>C:\Users\DidierLIRON\Desktop\cours_M1_IEF /input/data.csv » )</a:t>
            </a:r>
          </a:p>
          <a:p>
            <a:r>
              <a:rPr lang="fr-FR" sz="1400">
                <a:solidFill>
                  <a:schemeClr val="accent6">
                    <a:lumMod val="60000"/>
                    <a:lumOff val="40000"/>
                  </a:schemeClr>
                </a:solidFill>
              </a:rPr>
              <a:t># Chemin relatif</a:t>
            </a:r>
          </a:p>
          <a:p>
            <a:r>
              <a:rPr lang="fr-FR" sz="1400">
                <a:solidFill>
                  <a:schemeClr val="bg1"/>
                </a:solidFill>
              </a:rPr>
              <a:t>read.csv(« ./input/data.csv »)</a:t>
            </a:r>
          </a:p>
          <a:p>
            <a:endParaRPr lang="fr-FR" sz="1400">
              <a:solidFill>
                <a:schemeClr val="bg1"/>
              </a:solidFill>
            </a:endParaRPr>
          </a:p>
          <a:p>
            <a:r>
              <a:rPr lang="fr-FR" sz="1400">
                <a:solidFill>
                  <a:schemeClr val="accent6">
                    <a:lumMod val="60000"/>
                    <a:lumOff val="40000"/>
                  </a:schemeClr>
                </a:solidFill>
              </a:rPr>
              <a:t># Lire le fichier dataprev.csv situé dans le repertoire Desktop</a:t>
            </a:r>
          </a:p>
          <a:p>
            <a:r>
              <a:rPr lang="fr-FR" sz="1400">
                <a:solidFill>
                  <a:schemeClr val="accent6">
                    <a:lumMod val="60000"/>
                    <a:lumOff val="40000"/>
                  </a:schemeClr>
                </a:solidFill>
              </a:rPr>
              <a:t># Chemin absolu</a:t>
            </a:r>
          </a:p>
          <a:p>
            <a:r>
              <a:rPr lang="fr-FR" sz="1400"/>
              <a:t>read.csv(« </a:t>
            </a:r>
            <a:r>
              <a:rPr lang="fr-FR" sz="1400">
                <a:solidFill>
                  <a:schemeClr val="bg1"/>
                </a:solidFill>
              </a:rPr>
              <a:t>C:\Users\DidierLIRON\Desktop\dataPrev.csv » )</a:t>
            </a:r>
          </a:p>
          <a:p>
            <a:r>
              <a:rPr lang="fr-FR" sz="1400">
                <a:solidFill>
                  <a:schemeClr val="accent6">
                    <a:lumMod val="60000"/>
                    <a:lumOff val="40000"/>
                  </a:schemeClr>
                </a:solidFill>
              </a:rPr>
              <a:t># Chemin relatif</a:t>
            </a:r>
          </a:p>
          <a:p>
            <a:r>
              <a:rPr lang="fr-FR" sz="1400">
                <a:solidFill>
                  <a:schemeClr val="bg1"/>
                </a:solidFill>
              </a:rPr>
              <a:t>read.csv(« ../dataPrev.csv »)</a:t>
            </a:r>
          </a:p>
          <a:p>
            <a:endParaRPr lang="fr-FR" sz="1400"/>
          </a:p>
        </p:txBody>
      </p:sp>
    </p:spTree>
    <p:extLst>
      <p:ext uri="{BB962C8B-B14F-4D97-AF65-F5344CB8AC3E}">
        <p14:creationId xmlns:p14="http://schemas.microsoft.com/office/powerpoint/2010/main" val="3966694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1 – Chemins relatifs et absolus</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6</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24" name="ZoneTexte 23">
            <a:extLst>
              <a:ext uri="{FF2B5EF4-FFF2-40B4-BE49-F238E27FC236}">
                <a16:creationId xmlns:a16="http://schemas.microsoft.com/office/drawing/2014/main" id="{E3C872EA-39D8-65F6-8155-6EA0ECE26480}"/>
              </a:ext>
            </a:extLst>
          </p:cNvPr>
          <p:cNvSpPr txBox="1"/>
          <p:nvPr/>
        </p:nvSpPr>
        <p:spPr>
          <a:xfrm>
            <a:off x="6355919" y="1294711"/>
            <a:ext cx="4614930" cy="73866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fr-FR" sz="1400">
                <a:solidFill>
                  <a:schemeClr val="accent6">
                    <a:lumMod val="60000"/>
                    <a:lumOff val="40000"/>
                  </a:schemeClr>
                </a:solidFill>
              </a:rPr>
              <a:t># Importer le fichier csv</a:t>
            </a:r>
          </a:p>
          <a:p>
            <a:r>
              <a:rPr lang="fr-FR" sz="1400">
                <a:solidFill>
                  <a:schemeClr val="bg1"/>
                </a:solidFill>
              </a:rPr>
              <a:t>read.csv(« data.csv », sep=« , », dec= « . »)</a:t>
            </a:r>
          </a:p>
          <a:p>
            <a:endParaRPr lang="fr-FR" sz="1400"/>
          </a:p>
        </p:txBody>
      </p:sp>
      <p:pic>
        <p:nvPicPr>
          <p:cNvPr id="7" name="Image 6">
            <a:extLst>
              <a:ext uri="{FF2B5EF4-FFF2-40B4-BE49-F238E27FC236}">
                <a16:creationId xmlns:a16="http://schemas.microsoft.com/office/drawing/2014/main" id="{73C7A09E-0C89-B0C6-1327-AC97CF03AD8C}"/>
              </a:ext>
            </a:extLst>
          </p:cNvPr>
          <p:cNvPicPr>
            <a:picLocks noChangeAspect="1"/>
          </p:cNvPicPr>
          <p:nvPr/>
        </p:nvPicPr>
        <p:blipFill>
          <a:blip r:embed="rId2"/>
          <a:stretch>
            <a:fillRect/>
          </a:stretch>
        </p:blipFill>
        <p:spPr>
          <a:xfrm>
            <a:off x="319237" y="3704910"/>
            <a:ext cx="5776763" cy="2370242"/>
          </a:xfrm>
          <a:prstGeom prst="rect">
            <a:avLst/>
          </a:prstGeom>
        </p:spPr>
      </p:pic>
      <p:pic>
        <p:nvPicPr>
          <p:cNvPr id="10" name="Image 9">
            <a:extLst>
              <a:ext uri="{FF2B5EF4-FFF2-40B4-BE49-F238E27FC236}">
                <a16:creationId xmlns:a16="http://schemas.microsoft.com/office/drawing/2014/main" id="{20765DD2-7AC9-5F22-59EE-791F3F74EF7A}"/>
              </a:ext>
            </a:extLst>
          </p:cNvPr>
          <p:cNvPicPr>
            <a:picLocks noChangeAspect="1"/>
          </p:cNvPicPr>
          <p:nvPr/>
        </p:nvPicPr>
        <p:blipFill>
          <a:blip r:embed="rId3"/>
          <a:stretch>
            <a:fillRect/>
          </a:stretch>
        </p:blipFill>
        <p:spPr>
          <a:xfrm>
            <a:off x="6811638" y="3492500"/>
            <a:ext cx="4424873" cy="2638108"/>
          </a:xfrm>
          <a:prstGeom prst="rect">
            <a:avLst/>
          </a:prstGeom>
        </p:spPr>
      </p:pic>
      <p:sp>
        <p:nvSpPr>
          <p:cNvPr id="11" name="ZoneTexte 10">
            <a:extLst>
              <a:ext uri="{FF2B5EF4-FFF2-40B4-BE49-F238E27FC236}">
                <a16:creationId xmlns:a16="http://schemas.microsoft.com/office/drawing/2014/main" id="{C2A097B2-9297-2CDF-E924-3518B56C1009}"/>
              </a:ext>
            </a:extLst>
          </p:cNvPr>
          <p:cNvSpPr txBox="1"/>
          <p:nvPr/>
        </p:nvSpPr>
        <p:spPr>
          <a:xfrm>
            <a:off x="2189896" y="3118075"/>
            <a:ext cx="1585690" cy="369332"/>
          </a:xfrm>
          <a:prstGeom prst="rect">
            <a:avLst/>
          </a:prstGeom>
          <a:noFill/>
        </p:spPr>
        <p:txBody>
          <a:bodyPr wrap="none" rtlCol="0">
            <a:spAutoFit/>
          </a:bodyPr>
          <a:lstStyle/>
          <a:p>
            <a:r>
              <a:rPr lang="fr-FR" b="1">
                <a:latin typeface="CMU Serif" panose="02000603000000000000" pitchFamily="2" charset="0"/>
                <a:ea typeface="CMU Serif" panose="02000603000000000000" pitchFamily="2" charset="0"/>
                <a:cs typeface="CMU Serif" panose="02000603000000000000" pitchFamily="2" charset="0"/>
              </a:rPr>
              <a:t>Notepad++</a:t>
            </a:r>
          </a:p>
        </p:txBody>
      </p:sp>
      <p:sp>
        <p:nvSpPr>
          <p:cNvPr id="12" name="ZoneTexte 11">
            <a:extLst>
              <a:ext uri="{FF2B5EF4-FFF2-40B4-BE49-F238E27FC236}">
                <a16:creationId xmlns:a16="http://schemas.microsoft.com/office/drawing/2014/main" id="{4989C26B-BB78-F978-76BA-AF7FC95209F8}"/>
              </a:ext>
            </a:extLst>
          </p:cNvPr>
          <p:cNvSpPr txBox="1"/>
          <p:nvPr/>
        </p:nvSpPr>
        <p:spPr>
          <a:xfrm>
            <a:off x="8570141" y="2996168"/>
            <a:ext cx="811441" cy="369332"/>
          </a:xfrm>
          <a:prstGeom prst="rect">
            <a:avLst/>
          </a:prstGeom>
          <a:noFill/>
        </p:spPr>
        <p:txBody>
          <a:bodyPr wrap="none" rtlCol="0">
            <a:spAutoFit/>
          </a:bodyPr>
          <a:lstStyle/>
          <a:p>
            <a:r>
              <a:rPr lang="fr-FR" b="1">
                <a:latin typeface="CMU Serif" panose="02000603000000000000" pitchFamily="2" charset="0"/>
                <a:ea typeface="CMU Serif" panose="02000603000000000000" pitchFamily="2" charset="0"/>
                <a:cs typeface="CMU Serif" panose="02000603000000000000" pitchFamily="2" charset="0"/>
              </a:rPr>
              <a:t>Excel</a:t>
            </a:r>
          </a:p>
        </p:txBody>
      </p:sp>
      <p:sp>
        <p:nvSpPr>
          <p:cNvPr id="22" name="ZoneTexte 21">
            <a:extLst>
              <a:ext uri="{FF2B5EF4-FFF2-40B4-BE49-F238E27FC236}">
                <a16:creationId xmlns:a16="http://schemas.microsoft.com/office/drawing/2014/main" id="{BEA8D6C9-B993-3951-39E5-C95E352579FE}"/>
              </a:ext>
            </a:extLst>
          </p:cNvPr>
          <p:cNvSpPr txBox="1"/>
          <p:nvPr/>
        </p:nvSpPr>
        <p:spPr>
          <a:xfrm>
            <a:off x="641797" y="799123"/>
            <a:ext cx="3258354"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fr-FR" u="sng">
                <a:latin typeface="CMU Serif" panose="02000603000000000000" pitchFamily="2" charset="0"/>
                <a:ea typeface="CMU Serif" panose="02000603000000000000" pitchFamily="2" charset="0"/>
                <a:cs typeface="CMU Serif" panose="02000603000000000000" pitchFamily="2" charset="0"/>
              </a:rPr>
              <a:t>Fichier data.csv:</a:t>
            </a:r>
          </a:p>
          <a:p>
            <a:endParaRPr lang="fr-FR">
              <a:latin typeface="CMU Serif" panose="02000603000000000000" pitchFamily="2" charset="0"/>
              <a:ea typeface="CMU Serif" panose="02000603000000000000" pitchFamily="2" charset="0"/>
              <a:cs typeface="CMU Serif" panose="02000603000000000000" pitchFamily="2" charset="0"/>
            </a:endParaRPr>
          </a:p>
          <a:p>
            <a:r>
              <a:rPr lang="fr-FR">
                <a:latin typeface="CMU Serif" panose="02000603000000000000" pitchFamily="2" charset="0"/>
                <a:ea typeface="CMU Serif" panose="02000603000000000000" pitchFamily="2" charset="0"/>
                <a:cs typeface="CMU Serif" panose="02000603000000000000" pitchFamily="2" charset="0"/>
              </a:rPr>
              <a:t>Separateur de colonnes « , »</a:t>
            </a:r>
          </a:p>
          <a:p>
            <a:r>
              <a:rPr lang="fr-FR">
                <a:latin typeface="CMU Serif" panose="02000603000000000000" pitchFamily="2" charset="0"/>
                <a:ea typeface="CMU Serif" panose="02000603000000000000" pitchFamily="2" charset="0"/>
                <a:cs typeface="CMU Serif" panose="02000603000000000000" pitchFamily="2" charset="0"/>
              </a:rPr>
              <a:t>Separateur de décimales « . »</a:t>
            </a:r>
          </a:p>
        </p:txBody>
      </p:sp>
      <p:cxnSp>
        <p:nvCxnSpPr>
          <p:cNvPr id="26" name="Connecteur droit avec flèche 25">
            <a:extLst>
              <a:ext uri="{FF2B5EF4-FFF2-40B4-BE49-F238E27FC236}">
                <a16:creationId xmlns:a16="http://schemas.microsoft.com/office/drawing/2014/main" id="{5BC2B0FF-9181-6D20-3E6D-D2FFB15CF611}"/>
              </a:ext>
            </a:extLst>
          </p:cNvPr>
          <p:cNvCxnSpPr>
            <a:stCxn id="22" idx="2"/>
            <a:endCxn id="11" idx="0"/>
          </p:cNvCxnSpPr>
          <p:nvPr/>
        </p:nvCxnSpPr>
        <p:spPr>
          <a:xfrm>
            <a:off x="2270974" y="1999452"/>
            <a:ext cx="711767" cy="11186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necteur droit avec flèche 27">
            <a:extLst>
              <a:ext uri="{FF2B5EF4-FFF2-40B4-BE49-F238E27FC236}">
                <a16:creationId xmlns:a16="http://schemas.microsoft.com/office/drawing/2014/main" id="{283C4BB8-76B5-0F80-FB5C-883980AC6CAC}"/>
              </a:ext>
            </a:extLst>
          </p:cNvPr>
          <p:cNvCxnSpPr>
            <a:cxnSpLocks/>
            <a:stCxn id="22" idx="2"/>
            <a:endCxn id="12" idx="0"/>
          </p:cNvCxnSpPr>
          <p:nvPr/>
        </p:nvCxnSpPr>
        <p:spPr>
          <a:xfrm>
            <a:off x="2270974" y="1999452"/>
            <a:ext cx="6704888" cy="9967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9093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2 - Les structures de contrôle</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7</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15" name="ZoneTexte 14">
            <a:extLst>
              <a:ext uri="{FF2B5EF4-FFF2-40B4-BE49-F238E27FC236}">
                <a16:creationId xmlns:a16="http://schemas.microsoft.com/office/drawing/2014/main" id="{298DA1BD-7969-D1A6-C722-D32CB56603EB}"/>
              </a:ext>
            </a:extLst>
          </p:cNvPr>
          <p:cNvSpPr txBox="1"/>
          <p:nvPr/>
        </p:nvSpPr>
        <p:spPr>
          <a:xfrm>
            <a:off x="154546" y="715083"/>
            <a:ext cx="7302322" cy="6186309"/>
          </a:xfrm>
          <a:prstGeom prst="rect">
            <a:avLst/>
          </a:prstGeom>
          <a:noFill/>
        </p:spPr>
        <p:txBody>
          <a:bodyPr wrap="square" rtlCol="0">
            <a:spAutoFit/>
          </a:bodyPr>
          <a:lstStyle/>
          <a:p>
            <a:pPr marL="342900" indent="-342900">
              <a:buFont typeface="+mj-lt"/>
              <a:buAutoNum type="arabicPeriod"/>
            </a:pPr>
            <a:r>
              <a:rPr lang="fr-FR" u="sng">
                <a:latin typeface="CMU Serif" panose="02000603000000000000" pitchFamily="2" charset="0"/>
                <a:ea typeface="CMU Serif" panose="02000603000000000000" pitchFamily="2" charset="0"/>
                <a:cs typeface="CMU Serif" panose="02000603000000000000" pitchFamily="2" charset="0"/>
              </a:rPr>
              <a:t>Les boucles</a:t>
            </a:r>
          </a:p>
          <a:p>
            <a:pPr marL="800100" lvl="1" indent="-34290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for : parcours tous les éléments d’un vecteur et execute autant de fois un code donné</a:t>
            </a:r>
          </a:p>
          <a:p>
            <a:pPr lvl="5"/>
            <a:r>
              <a:rPr lang="fr-FR" b="1">
                <a:latin typeface="CMU Serif" panose="02000603000000000000" pitchFamily="2" charset="0"/>
                <a:ea typeface="CMU Serif" panose="02000603000000000000" pitchFamily="2" charset="0"/>
                <a:cs typeface="CMU Serif" panose="02000603000000000000" pitchFamily="2" charset="0"/>
              </a:rPr>
              <a:t>for</a:t>
            </a:r>
            <a:r>
              <a:rPr lang="fr-FR">
                <a:latin typeface="CMU Serif" panose="02000603000000000000" pitchFamily="2" charset="0"/>
                <a:ea typeface="CMU Serif" panose="02000603000000000000" pitchFamily="2" charset="0"/>
                <a:cs typeface="CMU Serif" panose="02000603000000000000" pitchFamily="2" charset="0"/>
              </a:rPr>
              <a:t>(i in vecteur) {</a:t>
            </a:r>
          </a:p>
          <a:p>
            <a:pPr lvl="5"/>
            <a:r>
              <a:rPr lang="fr-FR">
                <a:latin typeface="CMU Serif" panose="02000603000000000000" pitchFamily="2" charset="0"/>
                <a:ea typeface="CMU Serif" panose="02000603000000000000" pitchFamily="2" charset="0"/>
                <a:cs typeface="CMU Serif" panose="02000603000000000000" pitchFamily="2" charset="0"/>
              </a:rPr>
              <a:t>	code</a:t>
            </a:r>
          </a:p>
          <a:p>
            <a:pPr lvl="5"/>
            <a:r>
              <a:rPr lang="fr-FR">
                <a:latin typeface="CMU Serif" panose="02000603000000000000" pitchFamily="2" charset="0"/>
                <a:ea typeface="CMU Serif" panose="02000603000000000000" pitchFamily="2" charset="0"/>
                <a:cs typeface="CMU Serif" panose="02000603000000000000" pitchFamily="2" charset="0"/>
              </a:rPr>
              <a:t>}</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while : Exécute un codé donné tant qu’une condition n’est pas remplie</a:t>
            </a:r>
          </a:p>
          <a:p>
            <a:pPr lvl="5"/>
            <a:r>
              <a:rPr lang="fr-FR" b="1">
                <a:latin typeface="CMU Serif" panose="02000603000000000000" pitchFamily="2" charset="0"/>
                <a:ea typeface="CMU Serif" panose="02000603000000000000" pitchFamily="2" charset="0"/>
                <a:cs typeface="CMU Serif" panose="02000603000000000000" pitchFamily="2" charset="0"/>
              </a:rPr>
              <a:t>while</a:t>
            </a:r>
            <a:r>
              <a:rPr lang="fr-FR">
                <a:latin typeface="CMU Serif" panose="02000603000000000000" pitchFamily="2" charset="0"/>
                <a:ea typeface="CMU Serif" panose="02000603000000000000" pitchFamily="2" charset="0"/>
                <a:cs typeface="CMU Serif" panose="02000603000000000000" pitchFamily="2" charset="0"/>
              </a:rPr>
              <a:t>(condition){</a:t>
            </a:r>
          </a:p>
          <a:p>
            <a:pPr lvl="5"/>
            <a:r>
              <a:rPr lang="fr-FR">
                <a:latin typeface="CMU Serif" panose="02000603000000000000" pitchFamily="2" charset="0"/>
                <a:ea typeface="CMU Serif" panose="02000603000000000000" pitchFamily="2" charset="0"/>
                <a:cs typeface="CMU Serif" panose="02000603000000000000" pitchFamily="2" charset="0"/>
              </a:rPr>
              <a:t>	code</a:t>
            </a:r>
          </a:p>
          <a:p>
            <a:pPr lvl="5"/>
            <a:r>
              <a:rPr lang="fr-FR">
                <a:latin typeface="CMU Serif" panose="02000603000000000000" pitchFamily="2" charset="0"/>
                <a:ea typeface="CMU Serif" panose="02000603000000000000" pitchFamily="2" charset="0"/>
                <a:cs typeface="CMU Serif" panose="02000603000000000000" pitchFamily="2" charset="0"/>
              </a:rPr>
              <a:t>}</a:t>
            </a:r>
          </a:p>
          <a:p>
            <a:pPr lvl="1"/>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u="sng">
                <a:latin typeface="CMU Serif" panose="02000603000000000000" pitchFamily="2" charset="0"/>
                <a:ea typeface="CMU Serif" panose="02000603000000000000" pitchFamily="2" charset="0"/>
                <a:cs typeface="CMU Serif" panose="02000603000000000000" pitchFamily="2" charset="0"/>
              </a:rPr>
              <a:t>Les conditions:</a:t>
            </a:r>
            <a:r>
              <a:rPr lang="fr-FR">
                <a:latin typeface="CMU Serif" panose="02000603000000000000" pitchFamily="2" charset="0"/>
                <a:ea typeface="CMU Serif" panose="02000603000000000000" pitchFamily="2" charset="0"/>
                <a:cs typeface="CMU Serif" panose="02000603000000000000" pitchFamily="2" charset="0"/>
              </a:rPr>
              <a:t> execute ou non un code en fonction d’une condition </a:t>
            </a:r>
          </a:p>
          <a:p>
            <a:pPr lvl="5"/>
            <a:r>
              <a:rPr lang="fr-FR" b="1">
                <a:latin typeface="CMU Serif" panose="02000603000000000000" pitchFamily="2" charset="0"/>
                <a:ea typeface="CMU Serif" panose="02000603000000000000" pitchFamily="2" charset="0"/>
                <a:cs typeface="CMU Serif" panose="02000603000000000000" pitchFamily="2" charset="0"/>
              </a:rPr>
              <a:t>if</a:t>
            </a:r>
            <a:r>
              <a:rPr lang="fr-FR">
                <a:latin typeface="CMU Serif" panose="02000603000000000000" pitchFamily="2" charset="0"/>
                <a:ea typeface="CMU Serif" panose="02000603000000000000" pitchFamily="2" charset="0"/>
                <a:cs typeface="CMU Serif" panose="02000603000000000000" pitchFamily="2" charset="0"/>
              </a:rPr>
              <a:t> (condition) {</a:t>
            </a:r>
          </a:p>
          <a:p>
            <a:pPr lvl="5"/>
            <a:r>
              <a:rPr lang="fr-FR">
                <a:latin typeface="CMU Serif" panose="02000603000000000000" pitchFamily="2" charset="0"/>
                <a:ea typeface="CMU Serif" panose="02000603000000000000" pitchFamily="2" charset="0"/>
                <a:cs typeface="CMU Serif" panose="02000603000000000000" pitchFamily="2" charset="0"/>
              </a:rPr>
              <a:t>	code</a:t>
            </a:r>
          </a:p>
          <a:p>
            <a:pPr lvl="5"/>
            <a:r>
              <a:rPr lang="fr-FR">
                <a:latin typeface="CMU Serif" panose="02000603000000000000" pitchFamily="2" charset="0"/>
                <a:ea typeface="CMU Serif" panose="02000603000000000000" pitchFamily="2" charset="0"/>
                <a:cs typeface="CMU Serif" panose="02000603000000000000" pitchFamily="2" charset="0"/>
              </a:rPr>
              <a:t>} </a:t>
            </a:r>
            <a:r>
              <a:rPr lang="fr-FR" b="1">
                <a:latin typeface="CMU Serif" panose="02000603000000000000" pitchFamily="2" charset="0"/>
                <a:ea typeface="CMU Serif" panose="02000603000000000000" pitchFamily="2" charset="0"/>
                <a:cs typeface="CMU Serif" panose="02000603000000000000" pitchFamily="2" charset="0"/>
              </a:rPr>
              <a:t>else if</a:t>
            </a:r>
            <a:r>
              <a:rPr lang="fr-FR">
                <a:latin typeface="CMU Serif" panose="02000603000000000000" pitchFamily="2" charset="0"/>
                <a:ea typeface="CMU Serif" panose="02000603000000000000" pitchFamily="2" charset="0"/>
                <a:cs typeface="CMU Serif" panose="02000603000000000000" pitchFamily="2" charset="0"/>
              </a:rPr>
              <a:t> {</a:t>
            </a:r>
          </a:p>
          <a:p>
            <a:pPr lvl="5"/>
            <a:r>
              <a:rPr lang="fr-FR">
                <a:latin typeface="CMU Serif" panose="02000603000000000000" pitchFamily="2" charset="0"/>
                <a:ea typeface="CMU Serif" panose="02000603000000000000" pitchFamily="2" charset="0"/>
                <a:cs typeface="CMU Serif" panose="02000603000000000000" pitchFamily="2" charset="0"/>
              </a:rPr>
              <a:t>	code</a:t>
            </a:r>
          </a:p>
          <a:p>
            <a:pPr lvl="5"/>
            <a:r>
              <a:rPr lang="fr-FR">
                <a:latin typeface="CMU Serif" panose="02000603000000000000" pitchFamily="2" charset="0"/>
                <a:ea typeface="CMU Serif" panose="02000603000000000000" pitchFamily="2" charset="0"/>
                <a:cs typeface="CMU Serif" panose="02000603000000000000" pitchFamily="2" charset="0"/>
              </a:rPr>
              <a:t>} </a:t>
            </a:r>
            <a:r>
              <a:rPr lang="fr-FR" b="1">
                <a:latin typeface="CMU Serif" panose="02000603000000000000" pitchFamily="2" charset="0"/>
                <a:ea typeface="CMU Serif" panose="02000603000000000000" pitchFamily="2" charset="0"/>
                <a:cs typeface="CMU Serif" panose="02000603000000000000" pitchFamily="2" charset="0"/>
              </a:rPr>
              <a:t>else</a:t>
            </a:r>
            <a:r>
              <a:rPr lang="fr-FR">
                <a:latin typeface="CMU Serif" panose="02000603000000000000" pitchFamily="2" charset="0"/>
                <a:ea typeface="CMU Serif" panose="02000603000000000000" pitchFamily="2" charset="0"/>
                <a:cs typeface="CMU Serif" panose="02000603000000000000" pitchFamily="2" charset="0"/>
              </a:rPr>
              <a:t> {</a:t>
            </a:r>
          </a:p>
          <a:p>
            <a:pPr lvl="5"/>
            <a:r>
              <a:rPr lang="fr-FR">
                <a:latin typeface="CMU Serif" panose="02000603000000000000" pitchFamily="2" charset="0"/>
                <a:ea typeface="CMU Serif" panose="02000603000000000000" pitchFamily="2" charset="0"/>
                <a:cs typeface="CMU Serif" panose="02000603000000000000" pitchFamily="2" charset="0"/>
              </a:rPr>
              <a:t>	code</a:t>
            </a:r>
          </a:p>
          <a:p>
            <a:pPr lvl="5"/>
            <a:r>
              <a:rPr lang="fr-FR">
                <a:latin typeface="CMU Serif" panose="02000603000000000000" pitchFamily="2" charset="0"/>
                <a:ea typeface="CMU Serif" panose="02000603000000000000" pitchFamily="2" charset="0"/>
                <a:cs typeface="CMU Serif" panose="02000603000000000000" pitchFamily="2" charset="0"/>
              </a:rPr>
              <a:t>}</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p:txBody>
      </p:sp>
      <p:sp>
        <p:nvSpPr>
          <p:cNvPr id="9" name="ZoneTexte 8">
            <a:extLst>
              <a:ext uri="{FF2B5EF4-FFF2-40B4-BE49-F238E27FC236}">
                <a16:creationId xmlns:a16="http://schemas.microsoft.com/office/drawing/2014/main" id="{DBBD99AD-C9D1-CDCD-974E-C6C839D2181E}"/>
              </a:ext>
            </a:extLst>
          </p:cNvPr>
          <p:cNvSpPr txBox="1"/>
          <p:nvPr/>
        </p:nvSpPr>
        <p:spPr>
          <a:xfrm>
            <a:off x="7456868" y="701568"/>
            <a:ext cx="4640686" cy="5693866"/>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fr-FR" sz="1400">
                <a:solidFill>
                  <a:schemeClr val="accent6">
                    <a:lumMod val="60000"/>
                    <a:lumOff val="40000"/>
                  </a:schemeClr>
                </a:solidFill>
              </a:rPr>
              <a:t># parcours le vecteur c(1,2,3,4) et affiche les valeurs</a:t>
            </a:r>
          </a:p>
          <a:p>
            <a:r>
              <a:rPr lang="fr-FR" sz="1400">
                <a:solidFill>
                  <a:schemeClr val="bg1"/>
                </a:solidFill>
              </a:rPr>
              <a:t>for(i in c(1,2,3,4)) {</a:t>
            </a:r>
          </a:p>
          <a:p>
            <a:r>
              <a:rPr lang="fr-FR" sz="1400">
                <a:solidFill>
                  <a:schemeClr val="bg1"/>
                </a:solidFill>
              </a:rPr>
              <a:t>  print(i)</a:t>
            </a:r>
          </a:p>
          <a:p>
            <a:r>
              <a:rPr lang="fr-FR" sz="1400">
                <a:solidFill>
                  <a:schemeClr val="bg1"/>
                </a:solidFill>
              </a:rPr>
              <a:t>}</a:t>
            </a:r>
          </a:p>
          <a:p>
            <a:r>
              <a:rPr lang="fr-FR" sz="1400">
                <a:solidFill>
                  <a:schemeClr val="accent6">
                    <a:lumMod val="60000"/>
                    <a:lumOff val="40000"/>
                  </a:schemeClr>
                </a:solidFill>
              </a:rPr>
              <a:t># parcours un autre vecteur et affiche les valeurs</a:t>
            </a:r>
          </a:p>
          <a:p>
            <a:r>
              <a:rPr lang="fr-FR" sz="1400">
                <a:solidFill>
                  <a:schemeClr val="bg1"/>
                </a:solidFill>
              </a:rPr>
              <a:t>for(i in c("Bonjour","tout","le","monde","!")) {</a:t>
            </a:r>
          </a:p>
          <a:p>
            <a:r>
              <a:rPr lang="fr-FR" sz="1400">
                <a:solidFill>
                  <a:schemeClr val="bg1"/>
                </a:solidFill>
              </a:rPr>
              <a:t>  print(i)</a:t>
            </a:r>
          </a:p>
          <a:p>
            <a:r>
              <a:rPr lang="fr-FR" sz="1400">
                <a:solidFill>
                  <a:schemeClr val="bg1"/>
                </a:solidFill>
              </a:rPr>
              <a:t>}</a:t>
            </a:r>
          </a:p>
          <a:p>
            <a:endParaRPr lang="fr-FR" sz="1400">
              <a:solidFill>
                <a:schemeClr val="accent6">
                  <a:lumMod val="60000"/>
                  <a:lumOff val="40000"/>
                </a:schemeClr>
              </a:solidFill>
            </a:endParaRPr>
          </a:p>
          <a:p>
            <a:r>
              <a:rPr lang="fr-FR" sz="1400">
                <a:solidFill>
                  <a:schemeClr val="accent6">
                    <a:lumMod val="60000"/>
                    <a:lumOff val="40000"/>
                  </a:schemeClr>
                </a:solidFill>
              </a:rPr>
              <a:t># Incrémente i de 1 jusqu'a ce que i vaille 5</a:t>
            </a:r>
          </a:p>
          <a:p>
            <a:r>
              <a:rPr lang="fr-FR" sz="1400">
                <a:solidFill>
                  <a:schemeClr val="bg1"/>
                </a:solidFill>
              </a:rPr>
              <a:t>i = 1</a:t>
            </a:r>
          </a:p>
          <a:p>
            <a:r>
              <a:rPr lang="fr-FR" sz="1400">
                <a:solidFill>
                  <a:schemeClr val="bg1"/>
                </a:solidFill>
              </a:rPr>
              <a:t>while( i &lt; 5) {</a:t>
            </a:r>
          </a:p>
          <a:p>
            <a:r>
              <a:rPr lang="fr-FR" sz="1400">
                <a:solidFill>
                  <a:schemeClr val="bg1"/>
                </a:solidFill>
              </a:rPr>
              <a:t>  print(i)</a:t>
            </a:r>
          </a:p>
          <a:p>
            <a:r>
              <a:rPr lang="fr-FR" sz="1400">
                <a:solidFill>
                  <a:schemeClr val="bg1"/>
                </a:solidFill>
              </a:rPr>
              <a:t>  i = i + 1</a:t>
            </a:r>
          </a:p>
          <a:p>
            <a:r>
              <a:rPr lang="fr-FR" sz="1400">
                <a:solidFill>
                  <a:schemeClr val="bg1"/>
                </a:solidFill>
              </a:rPr>
              <a:t>}</a:t>
            </a:r>
          </a:p>
          <a:p>
            <a:endParaRPr lang="fr-FR" sz="1400">
              <a:solidFill>
                <a:schemeClr val="accent6">
                  <a:lumMod val="60000"/>
                  <a:lumOff val="40000"/>
                </a:schemeClr>
              </a:solidFill>
            </a:endParaRPr>
          </a:p>
          <a:p>
            <a:r>
              <a:rPr lang="fr-FR" sz="1400">
                <a:solidFill>
                  <a:schemeClr val="accent6">
                    <a:lumMod val="60000"/>
                    <a:lumOff val="40000"/>
                  </a:schemeClr>
                </a:solidFill>
              </a:rPr>
              <a:t># Affichage des valeurs de a sous certaines conditions</a:t>
            </a:r>
          </a:p>
          <a:p>
            <a:r>
              <a:rPr lang="fr-FR" sz="1400">
                <a:solidFill>
                  <a:schemeClr val="bg1"/>
                </a:solidFill>
              </a:rPr>
              <a:t>a = 7</a:t>
            </a:r>
          </a:p>
          <a:p>
            <a:endParaRPr lang="fr-FR" sz="1400">
              <a:solidFill>
                <a:schemeClr val="accent6">
                  <a:lumMod val="60000"/>
                  <a:lumOff val="40000"/>
                </a:schemeClr>
              </a:solidFill>
            </a:endParaRPr>
          </a:p>
          <a:p>
            <a:r>
              <a:rPr lang="fr-FR" sz="1400">
                <a:solidFill>
                  <a:schemeClr val="bg1"/>
                </a:solidFill>
              </a:rPr>
              <a:t>if(a == 7) {</a:t>
            </a:r>
          </a:p>
          <a:p>
            <a:r>
              <a:rPr lang="fr-FR" sz="1400">
                <a:solidFill>
                  <a:schemeClr val="bg1"/>
                </a:solidFill>
              </a:rPr>
              <a:t>  print("a = 7")</a:t>
            </a:r>
          </a:p>
          <a:p>
            <a:r>
              <a:rPr lang="fr-FR" sz="1400">
                <a:solidFill>
                  <a:schemeClr val="bg1"/>
                </a:solidFill>
              </a:rPr>
              <a:t>} else if(a == 10) {</a:t>
            </a:r>
          </a:p>
          <a:p>
            <a:r>
              <a:rPr lang="fr-FR" sz="1400">
                <a:solidFill>
                  <a:schemeClr val="bg1"/>
                </a:solidFill>
              </a:rPr>
              <a:t>  print("a = 10")</a:t>
            </a:r>
          </a:p>
          <a:p>
            <a:r>
              <a:rPr lang="fr-FR" sz="1400">
                <a:solidFill>
                  <a:schemeClr val="bg1"/>
                </a:solidFill>
              </a:rPr>
              <a:t>} else {</a:t>
            </a:r>
          </a:p>
          <a:p>
            <a:r>
              <a:rPr lang="fr-FR" sz="1400">
                <a:solidFill>
                  <a:schemeClr val="bg1"/>
                </a:solidFill>
              </a:rPr>
              <a:t>  print("a n'est ni égal à 7 ni à 10.")</a:t>
            </a:r>
          </a:p>
          <a:p>
            <a:r>
              <a:rPr lang="fr-FR" sz="1400">
                <a:solidFill>
                  <a:schemeClr val="bg1"/>
                </a:solidFill>
              </a:rPr>
              <a:t>}</a:t>
            </a:r>
          </a:p>
        </p:txBody>
      </p:sp>
    </p:spTree>
    <p:extLst>
      <p:ext uri="{BB962C8B-B14F-4D97-AF65-F5344CB8AC3E}">
        <p14:creationId xmlns:p14="http://schemas.microsoft.com/office/powerpoint/2010/main" val="3757896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2 - Les combinaisons de booléens</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8</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pic>
        <p:nvPicPr>
          <p:cNvPr id="7" name="Image 6">
            <a:extLst>
              <a:ext uri="{FF2B5EF4-FFF2-40B4-BE49-F238E27FC236}">
                <a16:creationId xmlns:a16="http://schemas.microsoft.com/office/drawing/2014/main" id="{43A52AD1-AB38-E2E1-934D-7F04D4131745}"/>
              </a:ext>
            </a:extLst>
          </p:cNvPr>
          <p:cNvPicPr>
            <a:picLocks noChangeAspect="1"/>
          </p:cNvPicPr>
          <p:nvPr/>
        </p:nvPicPr>
        <p:blipFill>
          <a:blip r:embed="rId2"/>
          <a:stretch>
            <a:fillRect/>
          </a:stretch>
        </p:blipFill>
        <p:spPr>
          <a:xfrm>
            <a:off x="414544" y="871471"/>
            <a:ext cx="6486111" cy="1409670"/>
          </a:xfrm>
          <a:prstGeom prst="rect">
            <a:avLst/>
          </a:prstGeom>
        </p:spPr>
      </p:pic>
      <p:pic>
        <p:nvPicPr>
          <p:cNvPr id="10" name="Image 9">
            <a:extLst>
              <a:ext uri="{FF2B5EF4-FFF2-40B4-BE49-F238E27FC236}">
                <a16:creationId xmlns:a16="http://schemas.microsoft.com/office/drawing/2014/main" id="{614A4F7D-FF45-F3B0-83DE-568659E44F50}"/>
              </a:ext>
            </a:extLst>
          </p:cNvPr>
          <p:cNvPicPr>
            <a:picLocks noChangeAspect="1"/>
          </p:cNvPicPr>
          <p:nvPr/>
        </p:nvPicPr>
        <p:blipFill>
          <a:blip r:embed="rId3"/>
          <a:stretch>
            <a:fillRect/>
          </a:stretch>
        </p:blipFill>
        <p:spPr>
          <a:xfrm>
            <a:off x="407185" y="2580068"/>
            <a:ext cx="6345402" cy="3295886"/>
          </a:xfrm>
          <a:prstGeom prst="rect">
            <a:avLst/>
          </a:prstGeom>
        </p:spPr>
      </p:pic>
      <p:sp>
        <p:nvSpPr>
          <p:cNvPr id="11" name="ZoneTexte 10">
            <a:extLst>
              <a:ext uri="{FF2B5EF4-FFF2-40B4-BE49-F238E27FC236}">
                <a16:creationId xmlns:a16="http://schemas.microsoft.com/office/drawing/2014/main" id="{AFC60280-A298-9E19-E36B-8B1193F78020}"/>
              </a:ext>
            </a:extLst>
          </p:cNvPr>
          <p:cNvSpPr txBox="1"/>
          <p:nvPr/>
        </p:nvSpPr>
        <p:spPr>
          <a:xfrm>
            <a:off x="7152255" y="1425304"/>
            <a:ext cx="4640686" cy="353943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fr-FR" sz="1400">
                <a:solidFill>
                  <a:schemeClr val="accent6">
                    <a:lumMod val="60000"/>
                    <a:lumOff val="40000"/>
                  </a:schemeClr>
                </a:solidFill>
              </a:rPr>
              <a:t># Quelques exemples R des combinaisons de booléens</a:t>
            </a:r>
          </a:p>
          <a:p>
            <a:endParaRPr lang="fr-FR" sz="1400">
              <a:solidFill>
                <a:schemeClr val="bg1"/>
              </a:solidFill>
            </a:endParaRPr>
          </a:p>
          <a:p>
            <a:r>
              <a:rPr lang="fr-FR" sz="1200">
                <a:solidFill>
                  <a:schemeClr val="bg1"/>
                </a:solidFill>
              </a:rPr>
              <a:t>&gt; TRUE &amp; TRUE</a:t>
            </a:r>
          </a:p>
          <a:p>
            <a:r>
              <a:rPr lang="fr-FR" sz="1200">
                <a:solidFill>
                  <a:schemeClr val="accent4"/>
                </a:solidFill>
              </a:rPr>
              <a:t>[1] TRUE</a:t>
            </a:r>
          </a:p>
          <a:p>
            <a:endParaRPr lang="fr-FR" sz="1200">
              <a:solidFill>
                <a:schemeClr val="accent4"/>
              </a:solidFill>
            </a:endParaRPr>
          </a:p>
          <a:p>
            <a:r>
              <a:rPr lang="fr-FR" sz="1200">
                <a:solidFill>
                  <a:schemeClr val="bg1"/>
                </a:solidFill>
              </a:rPr>
              <a:t>&gt; TRUE &amp; FALSE</a:t>
            </a:r>
          </a:p>
          <a:p>
            <a:r>
              <a:rPr lang="fr-FR" sz="1200">
                <a:solidFill>
                  <a:schemeClr val="accent4"/>
                </a:solidFill>
              </a:rPr>
              <a:t>[1] FALSE</a:t>
            </a:r>
          </a:p>
          <a:p>
            <a:endParaRPr lang="fr-FR" sz="1200">
              <a:solidFill>
                <a:schemeClr val="accent4"/>
              </a:solidFill>
            </a:endParaRPr>
          </a:p>
          <a:p>
            <a:r>
              <a:rPr lang="fr-FR" sz="1200">
                <a:solidFill>
                  <a:schemeClr val="bg1"/>
                </a:solidFill>
              </a:rPr>
              <a:t>&gt; TRUE | TRUE</a:t>
            </a:r>
          </a:p>
          <a:p>
            <a:r>
              <a:rPr lang="fr-FR" sz="1200">
                <a:solidFill>
                  <a:schemeClr val="accent4"/>
                </a:solidFill>
              </a:rPr>
              <a:t>[1] TRUE</a:t>
            </a:r>
          </a:p>
          <a:p>
            <a:endParaRPr lang="fr-FR" sz="1200">
              <a:solidFill>
                <a:schemeClr val="bg1"/>
              </a:solidFill>
            </a:endParaRPr>
          </a:p>
          <a:p>
            <a:r>
              <a:rPr lang="fr-FR" sz="1200">
                <a:solidFill>
                  <a:schemeClr val="bg1"/>
                </a:solidFill>
              </a:rPr>
              <a:t>&gt; TRUE | FALSE</a:t>
            </a:r>
          </a:p>
          <a:p>
            <a:r>
              <a:rPr lang="fr-FR" sz="1200">
                <a:solidFill>
                  <a:schemeClr val="accent4"/>
                </a:solidFill>
              </a:rPr>
              <a:t>[1] TRUE</a:t>
            </a:r>
          </a:p>
          <a:p>
            <a:endParaRPr lang="fr-FR" sz="1200">
              <a:solidFill>
                <a:schemeClr val="bg1"/>
              </a:solidFill>
            </a:endParaRPr>
          </a:p>
          <a:p>
            <a:r>
              <a:rPr lang="fr-FR" sz="1200">
                <a:solidFill>
                  <a:schemeClr val="bg1"/>
                </a:solidFill>
              </a:rPr>
              <a:t>&gt; (TRUE &amp; FALSE) | FALSE</a:t>
            </a:r>
          </a:p>
          <a:p>
            <a:r>
              <a:rPr lang="fr-FR" sz="1200">
                <a:solidFill>
                  <a:schemeClr val="accent4"/>
                </a:solidFill>
              </a:rPr>
              <a:t>[1] TRUE</a:t>
            </a:r>
          </a:p>
          <a:p>
            <a:endParaRPr lang="fr-FR" sz="1400">
              <a:solidFill>
                <a:schemeClr val="bg1"/>
              </a:solidFill>
            </a:endParaRPr>
          </a:p>
          <a:p>
            <a:endParaRPr lang="fr-FR" sz="1400">
              <a:solidFill>
                <a:schemeClr val="bg1"/>
              </a:solidFill>
            </a:endParaRPr>
          </a:p>
        </p:txBody>
      </p:sp>
    </p:spTree>
    <p:extLst>
      <p:ext uri="{BB962C8B-B14F-4D97-AF65-F5344CB8AC3E}">
        <p14:creationId xmlns:p14="http://schemas.microsoft.com/office/powerpoint/2010/main" val="832001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2 - Exercices</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9</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15" name="ZoneTexte 14">
            <a:extLst>
              <a:ext uri="{FF2B5EF4-FFF2-40B4-BE49-F238E27FC236}">
                <a16:creationId xmlns:a16="http://schemas.microsoft.com/office/drawing/2014/main" id="{298DA1BD-7969-D1A6-C722-D32CB56603EB}"/>
              </a:ext>
            </a:extLst>
          </p:cNvPr>
          <p:cNvSpPr txBox="1"/>
          <p:nvPr/>
        </p:nvSpPr>
        <p:spPr>
          <a:xfrm>
            <a:off x="154545" y="715083"/>
            <a:ext cx="11702603" cy="4524315"/>
          </a:xfrm>
          <a:prstGeom prst="rect">
            <a:avLst/>
          </a:prstGeom>
          <a:noFill/>
        </p:spPr>
        <p:txBody>
          <a:bodyPr wrap="square" rtlCol="0">
            <a:spAutoFit/>
          </a:bodyPr>
          <a:lstStyle/>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Vérifier si un nombre est premier ou pas. Pour savoir si un nombre est divisible par un autre, utilisez le modulo (%% en R)</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Les deux premiers termes de la suite de Fibonacci sont tous deux un. Les termes suivants de la séquence sont trouvés en additionnant les deux termes immédiatement précédents. Écrivez un code qui écrit les n termes de la séquence de Fibonacci pour tout n≥3</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Écrivez un code qui simule le lancer d'une pièce avec une probabilité p associée aux piles,  jusqu’à obtenir fâce, et renvoie le nombre de piles obtenues. Ensuite, reproduisez l’exécution de ce code 100 fois et afficher le nombre maximum de piles obtenus lors d’une même séquence. Pour générer une probabilité entre 0 et 1, utilisez runif(1).</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3687460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3 - Les fonctions</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10</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15" name="ZoneTexte 14">
            <a:extLst>
              <a:ext uri="{FF2B5EF4-FFF2-40B4-BE49-F238E27FC236}">
                <a16:creationId xmlns:a16="http://schemas.microsoft.com/office/drawing/2014/main" id="{298DA1BD-7969-D1A6-C722-D32CB56603EB}"/>
              </a:ext>
            </a:extLst>
          </p:cNvPr>
          <p:cNvSpPr txBox="1"/>
          <p:nvPr/>
        </p:nvSpPr>
        <p:spPr>
          <a:xfrm>
            <a:off x="190123" y="2782242"/>
            <a:ext cx="6353339" cy="1200329"/>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myfunction &lt;- function( a, b, c=1, d=3) {</a:t>
            </a:r>
          </a:p>
          <a:p>
            <a:r>
              <a:rPr lang="fr-FR">
                <a:latin typeface="CMU Serif" panose="02000603000000000000" pitchFamily="2" charset="0"/>
                <a:ea typeface="CMU Serif" panose="02000603000000000000" pitchFamily="2" charset="0"/>
                <a:cs typeface="CMU Serif" panose="02000603000000000000" pitchFamily="2" charset="0"/>
              </a:rPr>
              <a:t>	res = a + b + c + d</a:t>
            </a:r>
          </a:p>
          <a:p>
            <a:r>
              <a:rPr lang="fr-FR">
                <a:latin typeface="CMU Serif" panose="02000603000000000000" pitchFamily="2" charset="0"/>
                <a:ea typeface="CMU Serif" panose="02000603000000000000" pitchFamily="2" charset="0"/>
                <a:cs typeface="CMU Serif" panose="02000603000000000000" pitchFamily="2" charset="0"/>
              </a:rPr>
              <a:t>	return(res)</a:t>
            </a:r>
          </a:p>
          <a:p>
            <a:r>
              <a:rPr lang="fr-FR">
                <a:latin typeface="CMU Serif" panose="02000603000000000000" pitchFamily="2" charset="0"/>
                <a:ea typeface="CMU Serif" panose="02000603000000000000" pitchFamily="2" charset="0"/>
                <a:cs typeface="CMU Serif" panose="02000603000000000000" pitchFamily="2" charset="0"/>
              </a:rPr>
              <a:t>}</a:t>
            </a:r>
          </a:p>
        </p:txBody>
      </p:sp>
      <p:sp>
        <p:nvSpPr>
          <p:cNvPr id="9" name="ZoneTexte 8">
            <a:extLst>
              <a:ext uri="{FF2B5EF4-FFF2-40B4-BE49-F238E27FC236}">
                <a16:creationId xmlns:a16="http://schemas.microsoft.com/office/drawing/2014/main" id="{DBBD99AD-C9D1-CDCD-974E-C6C839D2181E}"/>
              </a:ext>
            </a:extLst>
          </p:cNvPr>
          <p:cNvSpPr txBox="1"/>
          <p:nvPr/>
        </p:nvSpPr>
        <p:spPr>
          <a:xfrm>
            <a:off x="7045367" y="717160"/>
            <a:ext cx="4640686" cy="5478423"/>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400">
                <a:solidFill>
                  <a:schemeClr val="accent6">
                    <a:lumMod val="60000"/>
                    <a:lumOff val="40000"/>
                  </a:schemeClr>
                </a:solidFill>
              </a:rPr>
              <a:t># Déclaration d’une fonction</a:t>
            </a:r>
          </a:p>
          <a:p>
            <a:r>
              <a:rPr lang="en-US" sz="1400">
                <a:solidFill>
                  <a:schemeClr val="bg1"/>
                </a:solidFill>
              </a:rPr>
              <a:t>myfunction &lt;- function(a, b, c = 1, d = 3) {</a:t>
            </a:r>
          </a:p>
          <a:p>
            <a:r>
              <a:rPr lang="en-US" sz="1400">
                <a:solidFill>
                  <a:schemeClr val="bg1"/>
                </a:solidFill>
              </a:rPr>
              <a:t>  res = a + b + c + d</a:t>
            </a:r>
          </a:p>
          <a:p>
            <a:r>
              <a:rPr lang="en-US" sz="1400">
                <a:solidFill>
                  <a:schemeClr val="bg1"/>
                </a:solidFill>
              </a:rPr>
              <a:t>  return(res)</a:t>
            </a:r>
          </a:p>
          <a:p>
            <a:r>
              <a:rPr lang="en-US" sz="1400">
                <a:solidFill>
                  <a:schemeClr val="bg1"/>
                </a:solidFill>
              </a:rPr>
              <a:t>}</a:t>
            </a:r>
          </a:p>
          <a:p>
            <a:endParaRPr lang="en-US" sz="1400">
              <a:solidFill>
                <a:schemeClr val="accent6">
                  <a:lumMod val="60000"/>
                  <a:lumOff val="40000"/>
                </a:schemeClr>
              </a:solidFill>
            </a:endParaRPr>
          </a:p>
          <a:p>
            <a:r>
              <a:rPr lang="en-US" sz="1400">
                <a:solidFill>
                  <a:schemeClr val="accent6">
                    <a:lumMod val="60000"/>
                    <a:lumOff val="40000"/>
                  </a:schemeClr>
                </a:solidFill>
              </a:rPr>
              <a:t># Différents appels à ma fonction</a:t>
            </a:r>
          </a:p>
          <a:p>
            <a:r>
              <a:rPr lang="en-US" sz="1400">
                <a:solidFill>
                  <a:schemeClr val="bg1"/>
                </a:solidFill>
              </a:rPr>
              <a:t>myfunction(a = 1, b = 2)</a:t>
            </a:r>
          </a:p>
          <a:p>
            <a:r>
              <a:rPr lang="en-US" sz="1400">
                <a:solidFill>
                  <a:schemeClr val="bg1"/>
                </a:solidFill>
              </a:rPr>
              <a:t>myfunction(1, 2)</a:t>
            </a:r>
          </a:p>
          <a:p>
            <a:r>
              <a:rPr lang="en-US" sz="1400">
                <a:solidFill>
                  <a:schemeClr val="bg1"/>
                </a:solidFill>
              </a:rPr>
              <a:t>xx = myfunction(a = 1, c = 2, b = 3)</a:t>
            </a:r>
          </a:p>
          <a:p>
            <a:endParaRPr lang="en-US" sz="1400">
              <a:solidFill>
                <a:schemeClr val="accent6">
                  <a:lumMod val="60000"/>
                  <a:lumOff val="40000"/>
                </a:schemeClr>
              </a:solidFill>
            </a:endParaRPr>
          </a:p>
          <a:p>
            <a:r>
              <a:rPr lang="en-US" sz="1400">
                <a:solidFill>
                  <a:schemeClr val="accent6">
                    <a:lumMod val="60000"/>
                    <a:lumOff val="40000"/>
                  </a:schemeClr>
                </a:solidFill>
              </a:rPr>
              <a:t># Illustrations variables locales/globales</a:t>
            </a:r>
          </a:p>
          <a:p>
            <a:r>
              <a:rPr lang="en-US" sz="1400">
                <a:solidFill>
                  <a:schemeClr val="bg1"/>
                </a:solidFill>
              </a:rPr>
              <a:t>res = 2</a:t>
            </a:r>
          </a:p>
          <a:p>
            <a:r>
              <a:rPr lang="en-US" sz="1400">
                <a:solidFill>
                  <a:schemeClr val="bg1"/>
                </a:solidFill>
              </a:rPr>
              <a:t>myfunction(1, 2)</a:t>
            </a:r>
          </a:p>
          <a:p>
            <a:r>
              <a:rPr lang="en-US" sz="1400">
                <a:solidFill>
                  <a:schemeClr val="bg1"/>
                </a:solidFill>
              </a:rPr>
              <a:t>print(res)</a:t>
            </a:r>
          </a:p>
          <a:p>
            <a:endParaRPr lang="en-US" sz="1400">
              <a:solidFill>
                <a:schemeClr val="bg1"/>
              </a:solidFill>
            </a:endParaRPr>
          </a:p>
          <a:p>
            <a:r>
              <a:rPr lang="en-US" sz="1400">
                <a:solidFill>
                  <a:schemeClr val="bg1"/>
                </a:solidFill>
              </a:rPr>
              <a:t>myfunction &lt;- function(a, b, c = 1, d = 3) {</a:t>
            </a:r>
          </a:p>
          <a:p>
            <a:r>
              <a:rPr lang="en-US" sz="1400">
                <a:solidFill>
                  <a:schemeClr val="bg1"/>
                </a:solidFill>
              </a:rPr>
              <a:t>  res </a:t>
            </a:r>
            <a:r>
              <a:rPr lang="en-US" sz="1400">
                <a:solidFill>
                  <a:schemeClr val="accent5">
                    <a:lumMod val="40000"/>
                    <a:lumOff val="60000"/>
                  </a:schemeClr>
                </a:solidFill>
              </a:rPr>
              <a:t>&lt;&lt;-</a:t>
            </a:r>
            <a:r>
              <a:rPr lang="en-US" sz="1400">
                <a:solidFill>
                  <a:schemeClr val="bg1"/>
                </a:solidFill>
              </a:rPr>
              <a:t> a + b + c + d</a:t>
            </a:r>
          </a:p>
          <a:p>
            <a:r>
              <a:rPr lang="en-US" sz="1400">
                <a:solidFill>
                  <a:schemeClr val="bg1"/>
                </a:solidFill>
              </a:rPr>
              <a:t>  return(res)</a:t>
            </a:r>
          </a:p>
          <a:p>
            <a:r>
              <a:rPr lang="en-US" sz="1400">
                <a:solidFill>
                  <a:schemeClr val="bg1"/>
                </a:solidFill>
              </a:rPr>
              <a:t>}</a:t>
            </a:r>
          </a:p>
          <a:p>
            <a:r>
              <a:rPr lang="en-US" sz="1400">
                <a:solidFill>
                  <a:schemeClr val="bg1"/>
                </a:solidFill>
              </a:rPr>
              <a:t>res = 2</a:t>
            </a:r>
          </a:p>
          <a:p>
            <a:r>
              <a:rPr lang="en-US" sz="1400">
                <a:solidFill>
                  <a:schemeClr val="bg1"/>
                </a:solidFill>
              </a:rPr>
              <a:t>myfunction(1, 2)</a:t>
            </a:r>
          </a:p>
          <a:p>
            <a:r>
              <a:rPr lang="en-US" sz="1400">
                <a:solidFill>
                  <a:schemeClr val="bg1"/>
                </a:solidFill>
              </a:rPr>
              <a:t>print(res)</a:t>
            </a:r>
          </a:p>
          <a:p>
            <a:endParaRPr lang="en-US" sz="1400">
              <a:solidFill>
                <a:schemeClr val="bg1"/>
              </a:solidFill>
            </a:endParaRPr>
          </a:p>
          <a:p>
            <a:endParaRPr lang="en-US" sz="1400">
              <a:solidFill>
                <a:schemeClr val="accent6">
                  <a:lumMod val="60000"/>
                  <a:lumOff val="40000"/>
                </a:schemeClr>
              </a:solidFill>
            </a:endParaRPr>
          </a:p>
        </p:txBody>
      </p:sp>
      <p:sp>
        <p:nvSpPr>
          <p:cNvPr id="2" name="Rectangle 1">
            <a:extLst>
              <a:ext uri="{FF2B5EF4-FFF2-40B4-BE49-F238E27FC236}">
                <a16:creationId xmlns:a16="http://schemas.microsoft.com/office/drawing/2014/main" id="{8E71424E-7F31-C275-1BAF-102A7C3476CA}"/>
              </a:ext>
            </a:extLst>
          </p:cNvPr>
          <p:cNvSpPr/>
          <p:nvPr/>
        </p:nvSpPr>
        <p:spPr>
          <a:xfrm>
            <a:off x="2727024" y="2835738"/>
            <a:ext cx="540912" cy="2704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6EB34AD4-7378-09F3-7703-B4A3C4129C37}"/>
              </a:ext>
            </a:extLst>
          </p:cNvPr>
          <p:cNvSpPr/>
          <p:nvPr/>
        </p:nvSpPr>
        <p:spPr>
          <a:xfrm>
            <a:off x="3302280" y="2835738"/>
            <a:ext cx="995966" cy="27045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8" name="Connecteur : en angle 7">
            <a:extLst>
              <a:ext uri="{FF2B5EF4-FFF2-40B4-BE49-F238E27FC236}">
                <a16:creationId xmlns:a16="http://schemas.microsoft.com/office/drawing/2014/main" id="{0BB60D0D-9B60-7EF8-CB1C-6C5A9E5DDEEA}"/>
              </a:ext>
            </a:extLst>
          </p:cNvPr>
          <p:cNvCxnSpPr>
            <a:cxnSpLocks/>
            <a:stCxn id="2" idx="0"/>
          </p:cNvCxnSpPr>
          <p:nvPr/>
        </p:nvCxnSpPr>
        <p:spPr>
          <a:xfrm rot="16200000" flipV="1">
            <a:off x="2437109" y="2275367"/>
            <a:ext cx="339425" cy="78131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2" name="Connecteur : en angle 11">
            <a:extLst>
              <a:ext uri="{FF2B5EF4-FFF2-40B4-BE49-F238E27FC236}">
                <a16:creationId xmlns:a16="http://schemas.microsoft.com/office/drawing/2014/main" id="{1A00A8CE-1E28-96D1-00D9-BC0B2E25561A}"/>
              </a:ext>
            </a:extLst>
          </p:cNvPr>
          <p:cNvCxnSpPr>
            <a:cxnSpLocks/>
            <a:stCxn id="5" idx="0"/>
          </p:cNvCxnSpPr>
          <p:nvPr/>
        </p:nvCxnSpPr>
        <p:spPr>
          <a:xfrm rot="5400000" flipH="1" flipV="1">
            <a:off x="3950376" y="2346201"/>
            <a:ext cx="339425" cy="639651"/>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54CB5E5A-FC52-1A43-9302-4F499FE404BE}"/>
              </a:ext>
            </a:extLst>
          </p:cNvPr>
          <p:cNvSpPr txBox="1"/>
          <p:nvPr/>
        </p:nvSpPr>
        <p:spPr>
          <a:xfrm>
            <a:off x="919010" y="2182704"/>
            <a:ext cx="1438141" cy="584775"/>
          </a:xfrm>
          <a:prstGeom prst="rect">
            <a:avLst/>
          </a:prstGeom>
          <a:noFill/>
        </p:spPr>
        <p:txBody>
          <a:bodyPr wrap="square" rtlCol="0">
            <a:spAutoFit/>
          </a:bodyPr>
          <a:lstStyle/>
          <a:p>
            <a:r>
              <a:rPr lang="fr-FR" sz="1600">
                <a:solidFill>
                  <a:srgbClr val="002060"/>
                </a:solidFill>
                <a:latin typeface="CMU Serif" panose="02000603000000000000" pitchFamily="2" charset="0"/>
                <a:ea typeface="CMU Serif" panose="02000603000000000000" pitchFamily="2" charset="0"/>
                <a:cs typeface="CMU Serif" panose="02000603000000000000" pitchFamily="2" charset="0"/>
              </a:rPr>
              <a:t>Paramètres obligatoires</a:t>
            </a:r>
          </a:p>
        </p:txBody>
      </p:sp>
      <p:sp>
        <p:nvSpPr>
          <p:cNvPr id="19" name="ZoneTexte 18">
            <a:extLst>
              <a:ext uri="{FF2B5EF4-FFF2-40B4-BE49-F238E27FC236}">
                <a16:creationId xmlns:a16="http://schemas.microsoft.com/office/drawing/2014/main" id="{D5148A80-BF06-147A-A3B9-0773AC89457A}"/>
              </a:ext>
            </a:extLst>
          </p:cNvPr>
          <p:cNvSpPr txBox="1"/>
          <p:nvPr/>
        </p:nvSpPr>
        <p:spPr>
          <a:xfrm>
            <a:off x="4457323" y="2189407"/>
            <a:ext cx="1364923" cy="584775"/>
          </a:xfrm>
          <a:prstGeom prst="rect">
            <a:avLst/>
          </a:prstGeom>
          <a:noFill/>
        </p:spPr>
        <p:txBody>
          <a:bodyPr wrap="square" rtlCol="0">
            <a:spAutoFit/>
          </a:bodyPr>
          <a:lstStyle/>
          <a:p>
            <a:r>
              <a:rPr lang="fr-FR" sz="1600">
                <a:solidFill>
                  <a:srgbClr val="C00000"/>
                </a:solidFill>
                <a:latin typeface="CMU Serif" panose="02000603000000000000" pitchFamily="2" charset="0"/>
                <a:ea typeface="CMU Serif" panose="02000603000000000000" pitchFamily="2" charset="0"/>
                <a:cs typeface="CMU Serif" panose="02000603000000000000" pitchFamily="2" charset="0"/>
              </a:rPr>
              <a:t>Paramètres facultatifs</a:t>
            </a:r>
          </a:p>
        </p:txBody>
      </p:sp>
      <p:sp>
        <p:nvSpPr>
          <p:cNvPr id="20" name="Rectangle 19">
            <a:extLst>
              <a:ext uri="{FF2B5EF4-FFF2-40B4-BE49-F238E27FC236}">
                <a16:creationId xmlns:a16="http://schemas.microsoft.com/office/drawing/2014/main" id="{B7AE89DC-22AC-6C87-C427-B40F12FF896D}"/>
              </a:ext>
            </a:extLst>
          </p:cNvPr>
          <p:cNvSpPr/>
          <p:nvPr/>
        </p:nvSpPr>
        <p:spPr>
          <a:xfrm>
            <a:off x="1127896" y="3370901"/>
            <a:ext cx="1225639" cy="339426"/>
          </a:xfrm>
          <a:prstGeom prst="rect">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1" name="Connecteur : en angle 20">
            <a:extLst>
              <a:ext uri="{FF2B5EF4-FFF2-40B4-BE49-F238E27FC236}">
                <a16:creationId xmlns:a16="http://schemas.microsoft.com/office/drawing/2014/main" id="{486B6015-09C6-8A88-91B5-E3F1AE562B46}"/>
              </a:ext>
            </a:extLst>
          </p:cNvPr>
          <p:cNvCxnSpPr>
            <a:cxnSpLocks/>
            <a:stCxn id="20" idx="2"/>
          </p:cNvCxnSpPr>
          <p:nvPr/>
        </p:nvCxnSpPr>
        <p:spPr>
          <a:xfrm rot="16200000" flipH="1">
            <a:off x="2134544" y="3316499"/>
            <a:ext cx="198652" cy="98630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24" name="ZoneTexte 23">
            <a:extLst>
              <a:ext uri="{FF2B5EF4-FFF2-40B4-BE49-F238E27FC236}">
                <a16:creationId xmlns:a16="http://schemas.microsoft.com/office/drawing/2014/main" id="{0D494963-CCB8-FB6D-7B1A-1D465A95603B}"/>
              </a:ext>
            </a:extLst>
          </p:cNvPr>
          <p:cNvSpPr txBox="1"/>
          <p:nvPr/>
        </p:nvSpPr>
        <p:spPr>
          <a:xfrm>
            <a:off x="2755165" y="3585813"/>
            <a:ext cx="2302748" cy="584775"/>
          </a:xfrm>
          <a:prstGeom prst="rect">
            <a:avLst/>
          </a:prstGeom>
          <a:noFill/>
        </p:spPr>
        <p:txBody>
          <a:bodyPr wrap="square" rtlCol="0">
            <a:spAutoFit/>
          </a:bodyPr>
          <a:lstStyle/>
          <a:p>
            <a:r>
              <a:rPr lang="fr-FR" sz="1600">
                <a:solidFill>
                  <a:schemeClr val="accent6">
                    <a:lumMod val="50000"/>
                  </a:schemeClr>
                </a:solidFill>
                <a:latin typeface="CMU Serif" panose="02000603000000000000" pitchFamily="2" charset="0"/>
                <a:ea typeface="CMU Serif" panose="02000603000000000000" pitchFamily="2" charset="0"/>
                <a:cs typeface="CMU Serif" panose="02000603000000000000" pitchFamily="2" charset="0"/>
              </a:rPr>
              <a:t>Valeur à retourner (optionelle)</a:t>
            </a:r>
          </a:p>
        </p:txBody>
      </p:sp>
      <p:sp>
        <p:nvSpPr>
          <p:cNvPr id="25" name="ZoneTexte 24">
            <a:extLst>
              <a:ext uri="{FF2B5EF4-FFF2-40B4-BE49-F238E27FC236}">
                <a16:creationId xmlns:a16="http://schemas.microsoft.com/office/drawing/2014/main" id="{F775CACD-2921-70ED-F3E5-1D3AECCABC3A}"/>
              </a:ext>
            </a:extLst>
          </p:cNvPr>
          <p:cNvSpPr txBox="1"/>
          <p:nvPr/>
        </p:nvSpPr>
        <p:spPr>
          <a:xfrm>
            <a:off x="97183" y="839394"/>
            <a:ext cx="5998817" cy="923330"/>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Une fonction informatique est un ensemble d’instructions regroupées sous un nom et s’exécutant à la demande (l’appel de la fonction).</a:t>
            </a:r>
          </a:p>
        </p:txBody>
      </p:sp>
      <p:sp>
        <p:nvSpPr>
          <p:cNvPr id="26" name="ZoneTexte 25">
            <a:extLst>
              <a:ext uri="{FF2B5EF4-FFF2-40B4-BE49-F238E27FC236}">
                <a16:creationId xmlns:a16="http://schemas.microsoft.com/office/drawing/2014/main" id="{8B63F331-1099-D014-A9C8-4416070E5BB1}"/>
              </a:ext>
            </a:extLst>
          </p:cNvPr>
          <p:cNvSpPr txBox="1"/>
          <p:nvPr/>
        </p:nvSpPr>
        <p:spPr>
          <a:xfrm>
            <a:off x="97182" y="4774720"/>
            <a:ext cx="6745357" cy="1754326"/>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Toutes les variables contenues dans une fonction (paramètres inclus) sont ‘locales’ et ne sont accessibles que dans cette fonction. Elles sont créées à l’appel de la fonction et detruites à la fin de son exécution. Par opposition aux variables déclarées partout ailleurs dans le code, dites ‘globales’ et accessibles partout (y compris dans une fonction).</a:t>
            </a:r>
          </a:p>
        </p:txBody>
      </p:sp>
    </p:spTree>
    <p:extLst>
      <p:ext uri="{BB962C8B-B14F-4D97-AF65-F5344CB8AC3E}">
        <p14:creationId xmlns:p14="http://schemas.microsoft.com/office/powerpoint/2010/main" val="1806822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3 - Exercices</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11</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15" name="ZoneTexte 14">
            <a:extLst>
              <a:ext uri="{FF2B5EF4-FFF2-40B4-BE49-F238E27FC236}">
                <a16:creationId xmlns:a16="http://schemas.microsoft.com/office/drawing/2014/main" id="{298DA1BD-7969-D1A6-C722-D32CB56603EB}"/>
              </a:ext>
            </a:extLst>
          </p:cNvPr>
          <p:cNvSpPr txBox="1"/>
          <p:nvPr/>
        </p:nvSpPr>
        <p:spPr>
          <a:xfrm>
            <a:off x="154545" y="715083"/>
            <a:ext cx="11702603" cy="6186309"/>
          </a:xfrm>
          <a:prstGeom prst="rect">
            <a:avLst/>
          </a:prstGeom>
          <a:noFill/>
        </p:spPr>
        <p:txBody>
          <a:bodyPr wrap="square" rtlCol="0">
            <a:spAutoFit/>
          </a:bodyPr>
          <a:lstStyle/>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Vérifier si un nombre est premier ou pas. Pour savoir si un nombre est divisible par un autre, utilisez le modulo (%% en R)</a:t>
            </a:r>
          </a:p>
          <a:p>
            <a:pPr lvl="3"/>
            <a:r>
              <a:rPr lang="fr-FR">
                <a:solidFill>
                  <a:schemeClr val="accent6">
                    <a:lumMod val="75000"/>
                  </a:schemeClr>
                </a:solidFill>
                <a:latin typeface="CMU Serif" panose="02000603000000000000" pitchFamily="2" charset="0"/>
                <a:ea typeface="CMU Serif" panose="02000603000000000000" pitchFamily="2" charset="0"/>
                <a:cs typeface="CMU Serif" panose="02000603000000000000" pitchFamily="2" charset="0"/>
              </a:rPr>
              <a:t>=&gt; Transformer votre réponse en utilisant une fonction avec un seul parametre </a:t>
            </a:r>
            <a:r>
              <a:rPr lang="fr-FR" b="1">
                <a:solidFill>
                  <a:schemeClr val="accent6">
                    <a:lumMod val="75000"/>
                  </a:schemeClr>
                </a:solidFill>
                <a:latin typeface="CMU Serif" panose="02000603000000000000" pitchFamily="2" charset="0"/>
                <a:ea typeface="CMU Serif" panose="02000603000000000000" pitchFamily="2" charset="0"/>
                <a:cs typeface="CMU Serif" panose="02000603000000000000" pitchFamily="2" charset="0"/>
              </a:rPr>
              <a:t>obligatoire</a:t>
            </a:r>
            <a:r>
              <a:rPr lang="fr-FR">
                <a:solidFill>
                  <a:schemeClr val="accent6">
                    <a:lumMod val="75000"/>
                  </a:schemeClr>
                </a:solidFill>
                <a:latin typeface="CMU Serif" panose="02000603000000000000" pitchFamily="2" charset="0"/>
                <a:ea typeface="CMU Serif" panose="02000603000000000000" pitchFamily="2" charset="0"/>
                <a:cs typeface="CMU Serif" panose="02000603000000000000" pitchFamily="2" charset="0"/>
              </a:rPr>
              <a:t> définissant le nombre à vérifier.</a:t>
            </a: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Les deux premiers termes de la suite de Fibonacci sont tous deux un. Les termes suivants de la séquence sont trouvés en additionnant les deux termes immédiatement précédents. Écrivez un code qui écrit les n termes de la séquence de Fibonacci pour tout n≥3</a:t>
            </a:r>
          </a:p>
          <a:p>
            <a:pPr lvl="2"/>
            <a:r>
              <a:rPr lang="fr-FR">
                <a:solidFill>
                  <a:schemeClr val="accent6">
                    <a:lumMod val="75000"/>
                  </a:schemeClr>
                </a:solidFill>
                <a:latin typeface="CMU Serif" panose="02000603000000000000" pitchFamily="2" charset="0"/>
                <a:ea typeface="CMU Serif" panose="02000603000000000000" pitchFamily="2" charset="0"/>
                <a:cs typeface="CMU Serif" panose="02000603000000000000" pitchFamily="2" charset="0"/>
              </a:rPr>
              <a:t>       =&gt; Transformer votre réponse en utilisant une fonction avec un seul parametre </a:t>
            </a:r>
            <a:r>
              <a:rPr lang="fr-FR" b="1">
                <a:solidFill>
                  <a:schemeClr val="accent6">
                    <a:lumMod val="75000"/>
                  </a:schemeClr>
                </a:solidFill>
                <a:latin typeface="CMU Serif" panose="02000603000000000000" pitchFamily="2" charset="0"/>
                <a:ea typeface="CMU Serif" panose="02000603000000000000" pitchFamily="2" charset="0"/>
                <a:cs typeface="CMU Serif" panose="02000603000000000000" pitchFamily="2" charset="0"/>
              </a:rPr>
              <a:t>obligatoire </a:t>
            </a:r>
            <a:r>
              <a:rPr lang="fr-FR">
                <a:solidFill>
                  <a:schemeClr val="accent6">
                    <a:lumMod val="75000"/>
                  </a:schemeClr>
                </a:solidFill>
                <a:latin typeface="CMU Serif" panose="02000603000000000000" pitchFamily="2" charset="0"/>
                <a:ea typeface="CMU Serif" panose="02000603000000000000" pitchFamily="2" charset="0"/>
                <a:cs typeface="CMU Serif" panose="02000603000000000000" pitchFamily="2" charset="0"/>
              </a:rPr>
              <a:t>n définissant le nombre de termes à ajouter à la suite de Fibonacci.</a:t>
            </a: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Écrivez un code qui simule le lancer d'une pièce avec une probabilité p associée aux piles,  jusqu’à obtenir fâce, et renvoie le nombre de piles obtenues. Ensuite, reproduisez l’exécution de ce code 100 fois et afficher le nombre maximum de piles obtenus lors d’une même séquence. Pour générer une probabilité entre 0 et 1, utilisez runif(1).</a:t>
            </a:r>
          </a:p>
          <a:p>
            <a:pPr lvl="3"/>
            <a:r>
              <a:rPr lang="fr-FR">
                <a:solidFill>
                  <a:schemeClr val="accent6">
                    <a:lumMod val="75000"/>
                  </a:schemeClr>
                </a:solidFill>
                <a:latin typeface="CMU Serif" panose="02000603000000000000" pitchFamily="2" charset="0"/>
                <a:ea typeface="CMU Serif" panose="02000603000000000000" pitchFamily="2" charset="0"/>
                <a:cs typeface="CMU Serif" panose="02000603000000000000" pitchFamily="2" charset="0"/>
              </a:rPr>
              <a:t>=&gt; Transformer votre réponse en utilisant une fonction avec deux paramètres </a:t>
            </a:r>
            <a:r>
              <a:rPr lang="fr-FR" b="1">
                <a:solidFill>
                  <a:schemeClr val="accent6">
                    <a:lumMod val="75000"/>
                  </a:schemeClr>
                </a:solidFill>
                <a:latin typeface="CMU Serif" panose="02000603000000000000" pitchFamily="2" charset="0"/>
                <a:ea typeface="CMU Serif" panose="02000603000000000000" pitchFamily="2" charset="0"/>
                <a:cs typeface="CMU Serif" panose="02000603000000000000" pitchFamily="2" charset="0"/>
              </a:rPr>
              <a:t>facultatifs</a:t>
            </a:r>
            <a:r>
              <a:rPr lang="fr-FR">
                <a:solidFill>
                  <a:schemeClr val="accent6">
                    <a:lumMod val="75000"/>
                  </a:schemeClr>
                </a:solidFill>
                <a:latin typeface="CMU Serif" panose="02000603000000000000" pitchFamily="2" charset="0"/>
                <a:ea typeface="CMU Serif" panose="02000603000000000000" pitchFamily="2" charset="0"/>
                <a:cs typeface="CMU Serif" panose="02000603000000000000" pitchFamily="2" charset="0"/>
              </a:rPr>
              <a:t>. Un premier pour définir la probabilité associée aux piles (par défaut 0.5), et un second pour le nombre de lancers (par défaut 100).</a:t>
            </a:r>
          </a:p>
          <a:p>
            <a:pPr lvl="3"/>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632503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4 – Les dataframes (1/3)</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12</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9" name="ZoneTexte 8">
            <a:extLst>
              <a:ext uri="{FF2B5EF4-FFF2-40B4-BE49-F238E27FC236}">
                <a16:creationId xmlns:a16="http://schemas.microsoft.com/office/drawing/2014/main" id="{DBBD99AD-C9D1-CDCD-974E-C6C839D2181E}"/>
              </a:ext>
            </a:extLst>
          </p:cNvPr>
          <p:cNvSpPr txBox="1"/>
          <p:nvPr/>
        </p:nvSpPr>
        <p:spPr>
          <a:xfrm>
            <a:off x="6913073" y="661586"/>
            <a:ext cx="5207358" cy="5693866"/>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400">
                <a:solidFill>
                  <a:schemeClr val="accent6">
                    <a:lumMod val="60000"/>
                    <a:lumOff val="40000"/>
                  </a:schemeClr>
                </a:solidFill>
              </a:rPr>
              <a:t># Création d’un dataframe</a:t>
            </a:r>
          </a:p>
          <a:p>
            <a:r>
              <a:rPr lang="fr-FR" sz="1400">
                <a:solidFill>
                  <a:schemeClr val="bg1"/>
                </a:solidFill>
              </a:rPr>
              <a:t>taille   = c(121, 156, 194)</a:t>
            </a:r>
          </a:p>
          <a:p>
            <a:r>
              <a:rPr lang="fr-FR" sz="1400">
                <a:solidFill>
                  <a:schemeClr val="bg1"/>
                </a:solidFill>
              </a:rPr>
              <a:t>poids  = c(67, 78, 235)</a:t>
            </a:r>
          </a:p>
          <a:p>
            <a:r>
              <a:rPr lang="fr-FR" sz="1400">
                <a:solidFill>
                  <a:schemeClr val="bg1"/>
                </a:solidFill>
              </a:rPr>
              <a:t>sexe    = c("Homme","Femme","Homme")</a:t>
            </a:r>
          </a:p>
          <a:p>
            <a:r>
              <a:rPr lang="fr-FR" sz="1400">
                <a:solidFill>
                  <a:schemeClr val="bg1"/>
                </a:solidFill>
              </a:rPr>
              <a:t>mydata = data.frame(taille = taille, poids = poids, sexe = sexe)</a:t>
            </a:r>
          </a:p>
          <a:p>
            <a:endParaRPr lang="fr-FR" sz="1400">
              <a:solidFill>
                <a:schemeClr val="accent6">
                  <a:lumMod val="60000"/>
                  <a:lumOff val="40000"/>
                </a:schemeClr>
              </a:solidFill>
            </a:endParaRPr>
          </a:p>
          <a:p>
            <a:r>
              <a:rPr lang="fr-FR" sz="1400">
                <a:solidFill>
                  <a:schemeClr val="accent6">
                    <a:lumMod val="60000"/>
                    <a:lumOff val="40000"/>
                  </a:schemeClr>
                </a:solidFill>
              </a:rPr>
              <a:t># Operations de base</a:t>
            </a:r>
          </a:p>
          <a:p>
            <a:r>
              <a:rPr lang="en-US" sz="1400">
                <a:solidFill>
                  <a:schemeClr val="bg1"/>
                </a:solidFill>
              </a:rPr>
              <a:t>length(mydata)</a:t>
            </a:r>
          </a:p>
          <a:p>
            <a:r>
              <a:rPr lang="en-US" sz="1400">
                <a:solidFill>
                  <a:schemeClr val="bg1"/>
                </a:solidFill>
              </a:rPr>
              <a:t>dim(mydata)</a:t>
            </a:r>
          </a:p>
          <a:p>
            <a:r>
              <a:rPr lang="en-US" sz="1400">
                <a:solidFill>
                  <a:schemeClr val="bg1"/>
                </a:solidFill>
              </a:rPr>
              <a:t>summary(mydata)</a:t>
            </a:r>
          </a:p>
          <a:p>
            <a:r>
              <a:rPr lang="en-US" sz="1400">
                <a:solidFill>
                  <a:schemeClr val="bg1"/>
                </a:solidFill>
              </a:rPr>
              <a:t>colnames(mydata)</a:t>
            </a:r>
          </a:p>
          <a:p>
            <a:r>
              <a:rPr lang="en-US" sz="1400">
                <a:solidFill>
                  <a:schemeClr val="bg1"/>
                </a:solidFill>
              </a:rPr>
              <a:t>rownames(mydata)</a:t>
            </a:r>
          </a:p>
          <a:p>
            <a:r>
              <a:rPr lang="en-US" sz="1400">
                <a:solidFill>
                  <a:schemeClr val="bg1"/>
                </a:solidFill>
              </a:rPr>
              <a:t>nrow(mydata)</a:t>
            </a:r>
          </a:p>
          <a:p>
            <a:r>
              <a:rPr lang="en-US" sz="1400">
                <a:solidFill>
                  <a:schemeClr val="bg1"/>
                </a:solidFill>
              </a:rPr>
              <a:t>ncol(mydata)</a:t>
            </a:r>
          </a:p>
          <a:p>
            <a:endParaRPr lang="en-US" sz="1400">
              <a:solidFill>
                <a:schemeClr val="bg1"/>
              </a:solidFill>
            </a:endParaRPr>
          </a:p>
          <a:p>
            <a:r>
              <a:rPr lang="fr-FR" sz="1400">
                <a:solidFill>
                  <a:schemeClr val="bg1"/>
                </a:solidFill>
              </a:rPr>
              <a:t>mydata[c(2, 3), ]  </a:t>
            </a:r>
            <a:r>
              <a:rPr lang="fr-FR" sz="1400">
                <a:solidFill>
                  <a:schemeClr val="accent6">
                    <a:lumMod val="60000"/>
                    <a:lumOff val="40000"/>
                  </a:schemeClr>
                </a:solidFill>
              </a:rPr>
              <a:t># les lignes 2 et 3</a:t>
            </a:r>
          </a:p>
          <a:p>
            <a:r>
              <a:rPr lang="fr-FR" sz="1400">
                <a:solidFill>
                  <a:schemeClr val="bg1"/>
                </a:solidFill>
              </a:rPr>
              <a:t>mydata[-c(2, 3), ] </a:t>
            </a:r>
            <a:r>
              <a:rPr lang="fr-FR" sz="1400">
                <a:solidFill>
                  <a:schemeClr val="accent6">
                    <a:lumMod val="60000"/>
                    <a:lumOff val="40000"/>
                  </a:schemeClr>
                </a:solidFill>
              </a:rPr>
              <a:t># toutes les lignes sauf  2 et 3</a:t>
            </a:r>
          </a:p>
          <a:p>
            <a:r>
              <a:rPr lang="fr-FR" sz="1400">
                <a:solidFill>
                  <a:schemeClr val="bg1"/>
                </a:solidFill>
              </a:rPr>
              <a:t>mydata[, c(2, 3) ]  </a:t>
            </a:r>
            <a:r>
              <a:rPr lang="fr-FR" sz="1400">
                <a:solidFill>
                  <a:schemeClr val="accent6">
                    <a:lumMod val="60000"/>
                    <a:lumOff val="40000"/>
                  </a:schemeClr>
                </a:solidFill>
              </a:rPr>
              <a:t># les colonnes 2 et 3</a:t>
            </a:r>
          </a:p>
          <a:p>
            <a:r>
              <a:rPr lang="fr-FR" sz="1400">
                <a:solidFill>
                  <a:schemeClr val="bg1"/>
                </a:solidFill>
              </a:rPr>
              <a:t>mydata[, -c(2, 3)] </a:t>
            </a:r>
            <a:r>
              <a:rPr lang="fr-FR" sz="1400">
                <a:solidFill>
                  <a:schemeClr val="accent6">
                    <a:lumMod val="60000"/>
                    <a:lumOff val="40000"/>
                  </a:schemeClr>
                </a:solidFill>
              </a:rPr>
              <a:t># toutes les colonnes sauf  2 et 3</a:t>
            </a:r>
            <a:endParaRPr lang="en-US" sz="1400">
              <a:solidFill>
                <a:schemeClr val="accent6">
                  <a:lumMod val="60000"/>
                  <a:lumOff val="40000"/>
                </a:schemeClr>
              </a:solidFill>
            </a:endParaRPr>
          </a:p>
          <a:p>
            <a:r>
              <a:rPr lang="fr-FR" sz="1400">
                <a:solidFill>
                  <a:schemeClr val="bg1"/>
                </a:solidFill>
              </a:rPr>
              <a:t>mydata[c(2, 3), -c(2, 3)] </a:t>
            </a:r>
            <a:r>
              <a:rPr lang="fr-FR" sz="1400">
                <a:solidFill>
                  <a:schemeClr val="accent6">
                    <a:lumMod val="60000"/>
                    <a:lumOff val="40000"/>
                  </a:schemeClr>
                </a:solidFill>
              </a:rPr>
              <a:t># les lignes 2 et 3, toutes les colonnes sauf  2 et 3</a:t>
            </a:r>
            <a:endParaRPr lang="en-US" sz="1400">
              <a:solidFill>
                <a:schemeClr val="accent6">
                  <a:lumMod val="60000"/>
                  <a:lumOff val="40000"/>
                </a:schemeClr>
              </a:solidFill>
            </a:endParaRPr>
          </a:p>
          <a:p>
            <a:r>
              <a:rPr lang="en-US" sz="1400">
                <a:solidFill>
                  <a:schemeClr val="bg1"/>
                </a:solidFill>
              </a:rPr>
              <a:t>mydata$poids  </a:t>
            </a:r>
            <a:r>
              <a:rPr lang="en-US" sz="1400">
                <a:solidFill>
                  <a:schemeClr val="accent6">
                    <a:lumMod val="60000"/>
                    <a:lumOff val="40000"/>
                  </a:schemeClr>
                </a:solidFill>
              </a:rPr>
              <a:t># colonne “poids" (resultat = vecteur)</a:t>
            </a:r>
          </a:p>
          <a:p>
            <a:r>
              <a:rPr lang="en-US" sz="1400">
                <a:solidFill>
                  <a:schemeClr val="bg1"/>
                </a:solidFill>
              </a:rPr>
              <a:t>mydata[“poids"]  </a:t>
            </a:r>
            <a:r>
              <a:rPr lang="en-US" sz="1400">
                <a:solidFill>
                  <a:schemeClr val="accent6">
                    <a:lumMod val="60000"/>
                    <a:lumOff val="40000"/>
                  </a:schemeClr>
                </a:solidFill>
              </a:rPr>
              <a:t># colonne “poids" (resultat = dataframe)</a:t>
            </a:r>
          </a:p>
          <a:p>
            <a:endParaRPr lang="en-US" sz="1400">
              <a:solidFill>
                <a:schemeClr val="accent6">
                  <a:lumMod val="60000"/>
                  <a:lumOff val="40000"/>
                </a:schemeClr>
              </a:solidFill>
            </a:endParaRPr>
          </a:p>
          <a:p>
            <a:r>
              <a:rPr lang="en-US" sz="1400">
                <a:solidFill>
                  <a:schemeClr val="accent6">
                    <a:lumMod val="60000"/>
                    <a:lumOff val="40000"/>
                  </a:schemeClr>
                </a:solidFill>
              </a:rPr>
              <a:t># Sous-selection conditionelle</a:t>
            </a:r>
          </a:p>
          <a:p>
            <a:r>
              <a:rPr lang="en-US" sz="1400">
                <a:solidFill>
                  <a:schemeClr val="bg1"/>
                </a:solidFill>
              </a:rPr>
              <a:t>mydata[mydata$sexe == "Homme", ] </a:t>
            </a:r>
          </a:p>
        </p:txBody>
      </p:sp>
      <p:sp>
        <p:nvSpPr>
          <p:cNvPr id="25" name="ZoneTexte 24">
            <a:extLst>
              <a:ext uri="{FF2B5EF4-FFF2-40B4-BE49-F238E27FC236}">
                <a16:creationId xmlns:a16="http://schemas.microsoft.com/office/drawing/2014/main" id="{F775CACD-2921-70ED-F3E5-1D3AECCABC3A}"/>
              </a:ext>
            </a:extLst>
          </p:cNvPr>
          <p:cNvSpPr txBox="1"/>
          <p:nvPr/>
        </p:nvSpPr>
        <p:spPr>
          <a:xfrm>
            <a:off x="97182" y="839394"/>
            <a:ext cx="6780135" cy="2862322"/>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Format matriciel avec des colonnes nommées, et des individus (lignes) pouvant l’être également (par defaut 1:n). Il a l’avantage de pouvoir contenir des données de types mixtes.</a:t>
            </a:r>
          </a:p>
          <a:p>
            <a:endParaRPr lang="fr-FR">
              <a:latin typeface="CMU Serif" panose="02000603000000000000" pitchFamily="2" charset="0"/>
              <a:ea typeface="CMU Serif" panose="02000603000000000000" pitchFamily="2" charset="0"/>
              <a:cs typeface="CMU Serif" panose="02000603000000000000" pitchFamily="2" charset="0"/>
            </a:endParaRPr>
          </a:p>
          <a:p>
            <a:r>
              <a:rPr lang="fr-FR">
                <a:latin typeface="CMU Serif" panose="02000603000000000000" pitchFamily="2" charset="0"/>
                <a:ea typeface="CMU Serif" panose="02000603000000000000" pitchFamily="2" charset="0"/>
                <a:cs typeface="CMU Serif" panose="02000603000000000000" pitchFamily="2" charset="0"/>
              </a:rPr>
              <a:t>Fonctionne comme les matrices pour accéder aux données, avec en plus des noms de colonnes (obligatoire, par défaut R nomme lui-même la colonne si besoin.</a:t>
            </a:r>
          </a:p>
          <a:p>
            <a:endParaRPr lang="fr-FR">
              <a:latin typeface="CMU Serif" panose="02000603000000000000" pitchFamily="2" charset="0"/>
              <a:ea typeface="CMU Serif" panose="02000603000000000000" pitchFamily="2" charset="0"/>
              <a:cs typeface="CMU Serif" panose="02000603000000000000" pitchFamily="2" charset="0"/>
            </a:endParaRPr>
          </a:p>
          <a:p>
            <a:r>
              <a:rPr lang="fr-FR">
                <a:latin typeface="CMU Serif" panose="02000603000000000000" pitchFamily="2" charset="0"/>
                <a:ea typeface="CMU Serif" panose="02000603000000000000" pitchFamily="2" charset="0"/>
                <a:cs typeface="CMU Serif" panose="02000603000000000000" pitchFamily="2" charset="0"/>
              </a:rPr>
              <a:t>	     mydf[   ,   ]</a:t>
            </a:r>
          </a:p>
          <a:p>
            <a:endParaRPr lang="fr-FR">
              <a:latin typeface="CMU Serif" panose="02000603000000000000" pitchFamily="2" charset="0"/>
              <a:ea typeface="CMU Serif" panose="02000603000000000000" pitchFamily="2" charset="0"/>
              <a:cs typeface="CMU Serif" panose="02000603000000000000" pitchFamily="2" charset="0"/>
            </a:endParaRPr>
          </a:p>
        </p:txBody>
      </p:sp>
      <p:cxnSp>
        <p:nvCxnSpPr>
          <p:cNvPr id="10" name="Connecteur : en angle 9">
            <a:extLst>
              <a:ext uri="{FF2B5EF4-FFF2-40B4-BE49-F238E27FC236}">
                <a16:creationId xmlns:a16="http://schemas.microsoft.com/office/drawing/2014/main" id="{C5FCCFFA-ABE5-57C3-4370-B9A480FD85E6}"/>
              </a:ext>
            </a:extLst>
          </p:cNvPr>
          <p:cNvCxnSpPr>
            <a:cxnSpLocks/>
          </p:cNvCxnSpPr>
          <p:nvPr/>
        </p:nvCxnSpPr>
        <p:spPr>
          <a:xfrm rot="10800000" flipV="1">
            <a:off x="1519707" y="3341891"/>
            <a:ext cx="635358" cy="480811"/>
          </a:xfrm>
          <a:prstGeom prst="bentConnector3">
            <a:avLst>
              <a:gd name="adj1" fmla="val -676"/>
            </a:avLst>
          </a:prstGeom>
          <a:ln>
            <a:tailEnd type="triangle"/>
          </a:ln>
        </p:spPr>
        <p:style>
          <a:lnRef idx="2">
            <a:schemeClr val="dk1"/>
          </a:lnRef>
          <a:fillRef idx="0">
            <a:schemeClr val="dk1"/>
          </a:fillRef>
          <a:effectRef idx="1">
            <a:schemeClr val="dk1"/>
          </a:effectRef>
          <a:fontRef idx="minor">
            <a:schemeClr val="tx1"/>
          </a:fontRef>
        </p:style>
      </p:cxnSp>
      <p:cxnSp>
        <p:nvCxnSpPr>
          <p:cNvPr id="27" name="Connecteur : en angle 26">
            <a:extLst>
              <a:ext uri="{FF2B5EF4-FFF2-40B4-BE49-F238E27FC236}">
                <a16:creationId xmlns:a16="http://schemas.microsoft.com/office/drawing/2014/main" id="{820F8F68-DE68-4723-E9C7-CF23437D61F4}"/>
              </a:ext>
            </a:extLst>
          </p:cNvPr>
          <p:cNvCxnSpPr>
            <a:cxnSpLocks/>
          </p:cNvCxnSpPr>
          <p:nvPr/>
        </p:nvCxnSpPr>
        <p:spPr>
          <a:xfrm>
            <a:off x="2411154" y="3341891"/>
            <a:ext cx="716299" cy="480811"/>
          </a:xfrm>
          <a:prstGeom prst="bentConnector3">
            <a:avLst>
              <a:gd name="adj1" fmla="val -1542"/>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31" name="ZoneTexte 30">
            <a:extLst>
              <a:ext uri="{FF2B5EF4-FFF2-40B4-BE49-F238E27FC236}">
                <a16:creationId xmlns:a16="http://schemas.microsoft.com/office/drawing/2014/main" id="{578178B5-F447-25C9-3ED3-B438684EB365}"/>
              </a:ext>
            </a:extLst>
          </p:cNvPr>
          <p:cNvSpPr txBox="1"/>
          <p:nvPr/>
        </p:nvSpPr>
        <p:spPr>
          <a:xfrm>
            <a:off x="3163209" y="3391857"/>
            <a:ext cx="1364923" cy="584775"/>
          </a:xfrm>
          <a:prstGeom prst="rect">
            <a:avLst/>
          </a:prstGeom>
          <a:noFill/>
        </p:spPr>
        <p:txBody>
          <a:bodyPr wrap="square" rtlCol="0">
            <a:spAutoFit/>
          </a:bodyPr>
          <a:lstStyle/>
          <a:p>
            <a:r>
              <a:rPr lang="fr-FR" sz="1600">
                <a:solidFill>
                  <a:srgbClr val="C00000"/>
                </a:solidFill>
                <a:latin typeface="CMU Serif" panose="02000603000000000000" pitchFamily="2" charset="0"/>
                <a:ea typeface="CMU Serif" panose="02000603000000000000" pitchFamily="2" charset="0"/>
                <a:cs typeface="CMU Serif" panose="02000603000000000000" pitchFamily="2" charset="0"/>
              </a:rPr>
              <a:t>Sélectionner des colonnes</a:t>
            </a:r>
          </a:p>
        </p:txBody>
      </p:sp>
      <p:sp>
        <p:nvSpPr>
          <p:cNvPr id="32" name="ZoneTexte 31">
            <a:extLst>
              <a:ext uri="{FF2B5EF4-FFF2-40B4-BE49-F238E27FC236}">
                <a16:creationId xmlns:a16="http://schemas.microsoft.com/office/drawing/2014/main" id="{BF9CD6E9-EE8D-49E0-FB7B-39E522F31B6F}"/>
              </a:ext>
            </a:extLst>
          </p:cNvPr>
          <p:cNvSpPr txBox="1"/>
          <p:nvPr/>
        </p:nvSpPr>
        <p:spPr>
          <a:xfrm>
            <a:off x="251183" y="3374038"/>
            <a:ext cx="1364923" cy="584775"/>
          </a:xfrm>
          <a:prstGeom prst="rect">
            <a:avLst/>
          </a:prstGeom>
          <a:noFill/>
        </p:spPr>
        <p:txBody>
          <a:bodyPr wrap="square" rtlCol="0">
            <a:spAutoFit/>
          </a:bodyPr>
          <a:lstStyle/>
          <a:p>
            <a:r>
              <a:rPr lang="fr-FR" sz="1600">
                <a:solidFill>
                  <a:srgbClr val="002060"/>
                </a:solidFill>
                <a:latin typeface="CMU Serif" panose="02000603000000000000" pitchFamily="2" charset="0"/>
                <a:ea typeface="CMU Serif" panose="02000603000000000000" pitchFamily="2" charset="0"/>
                <a:cs typeface="CMU Serif" panose="02000603000000000000" pitchFamily="2" charset="0"/>
              </a:rPr>
              <a:t>Sélectionner des lignes</a:t>
            </a:r>
          </a:p>
        </p:txBody>
      </p:sp>
      <p:sp>
        <p:nvSpPr>
          <p:cNvPr id="34" name="ZoneTexte 33">
            <a:extLst>
              <a:ext uri="{FF2B5EF4-FFF2-40B4-BE49-F238E27FC236}">
                <a16:creationId xmlns:a16="http://schemas.microsoft.com/office/drawing/2014/main" id="{47F8AB26-11B3-3EA7-951C-DD0652C549D5}"/>
              </a:ext>
            </a:extLst>
          </p:cNvPr>
          <p:cNvSpPr txBox="1"/>
          <p:nvPr/>
        </p:nvSpPr>
        <p:spPr>
          <a:xfrm>
            <a:off x="171719" y="4514941"/>
            <a:ext cx="6563932" cy="1200329"/>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Il faut savoir que bien qu’un data frame se présente sous forme d’une matrice, en réalité il s’agit d’une liste particulière dont les éléments ne peuvent être que des vecteurs de même longueur.</a:t>
            </a:r>
          </a:p>
        </p:txBody>
      </p:sp>
    </p:spTree>
    <p:extLst>
      <p:ext uri="{BB962C8B-B14F-4D97-AF65-F5344CB8AC3E}">
        <p14:creationId xmlns:p14="http://schemas.microsoft.com/office/powerpoint/2010/main" val="1003004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4 – Les dataframes (2/3)</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13</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9" name="ZoneTexte 8">
            <a:extLst>
              <a:ext uri="{FF2B5EF4-FFF2-40B4-BE49-F238E27FC236}">
                <a16:creationId xmlns:a16="http://schemas.microsoft.com/office/drawing/2014/main" id="{DBBD99AD-C9D1-CDCD-974E-C6C839D2181E}"/>
              </a:ext>
            </a:extLst>
          </p:cNvPr>
          <p:cNvSpPr txBox="1"/>
          <p:nvPr/>
        </p:nvSpPr>
        <p:spPr>
          <a:xfrm>
            <a:off x="7877577" y="987616"/>
            <a:ext cx="4074016" cy="289310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400">
                <a:solidFill>
                  <a:schemeClr val="accent6">
                    <a:lumMod val="60000"/>
                    <a:lumOff val="40000"/>
                  </a:schemeClr>
                </a:solidFill>
              </a:rPr>
              <a:t># Afficher les dimensions (lignes, colonnes)</a:t>
            </a:r>
          </a:p>
          <a:p>
            <a:r>
              <a:rPr lang="en-US" sz="1400">
                <a:solidFill>
                  <a:schemeClr val="bg1"/>
                </a:solidFill>
              </a:rPr>
              <a:t>dim(mydata)</a:t>
            </a:r>
          </a:p>
          <a:p>
            <a:endParaRPr lang="en-US" sz="1400">
              <a:solidFill>
                <a:schemeClr val="bg1"/>
              </a:solidFill>
            </a:endParaRPr>
          </a:p>
          <a:p>
            <a:r>
              <a:rPr lang="en-US" sz="1400">
                <a:solidFill>
                  <a:srgbClr val="92D050"/>
                </a:solidFill>
              </a:rPr>
              <a:t># Ajouter une colonne “test” de deux manières</a:t>
            </a:r>
          </a:p>
          <a:p>
            <a:r>
              <a:rPr lang="en-US" sz="1400">
                <a:solidFill>
                  <a:schemeClr val="bg1"/>
                </a:solidFill>
              </a:rPr>
              <a:t>mydata = cbind(mydata, test = c(1,2,3))</a:t>
            </a:r>
          </a:p>
          <a:p>
            <a:r>
              <a:rPr lang="en-US" sz="1400">
                <a:solidFill>
                  <a:schemeClr val="bg1"/>
                </a:solidFill>
              </a:rPr>
              <a:t>Mydata$test = c(1,2,3)</a:t>
            </a:r>
          </a:p>
          <a:p>
            <a:endParaRPr lang="en-US" sz="1400">
              <a:solidFill>
                <a:schemeClr val="bg1"/>
              </a:solidFill>
            </a:endParaRPr>
          </a:p>
          <a:p>
            <a:r>
              <a:rPr lang="en-US" sz="1400">
                <a:solidFill>
                  <a:srgbClr val="92D050"/>
                </a:solidFill>
              </a:rPr>
              <a:t># renommer les lignes</a:t>
            </a:r>
          </a:p>
          <a:p>
            <a:r>
              <a:rPr lang="en-US" sz="1400">
                <a:solidFill>
                  <a:schemeClr val="bg1"/>
                </a:solidFill>
              </a:rPr>
              <a:t>rownames(mydata) = c(“ind1”, “ind2”, “ind3”)</a:t>
            </a:r>
          </a:p>
          <a:p>
            <a:endParaRPr lang="en-US" sz="1400">
              <a:solidFill>
                <a:schemeClr val="bg1"/>
              </a:solidFill>
            </a:endParaRPr>
          </a:p>
          <a:p>
            <a:r>
              <a:rPr lang="en-US" sz="1400">
                <a:solidFill>
                  <a:srgbClr val="92D050"/>
                </a:solidFill>
              </a:rPr>
              <a:t># Afficher la première et la dernière ligne</a:t>
            </a:r>
          </a:p>
          <a:p>
            <a:r>
              <a:rPr lang="en-US" sz="1400">
                <a:solidFill>
                  <a:schemeClr val="bg1"/>
                </a:solidFill>
              </a:rPr>
              <a:t>head(mydata, 10)</a:t>
            </a:r>
          </a:p>
          <a:p>
            <a:r>
              <a:rPr lang="en-US" sz="1400">
                <a:solidFill>
                  <a:schemeClr val="bg1"/>
                </a:solidFill>
              </a:rPr>
              <a:t>tail(mydata, 10)</a:t>
            </a:r>
          </a:p>
        </p:txBody>
      </p:sp>
      <p:sp>
        <p:nvSpPr>
          <p:cNvPr id="25" name="ZoneTexte 24">
            <a:extLst>
              <a:ext uri="{FF2B5EF4-FFF2-40B4-BE49-F238E27FC236}">
                <a16:creationId xmlns:a16="http://schemas.microsoft.com/office/drawing/2014/main" id="{F775CACD-2921-70ED-F3E5-1D3AECCABC3A}"/>
              </a:ext>
            </a:extLst>
          </p:cNvPr>
          <p:cNvSpPr txBox="1"/>
          <p:nvPr/>
        </p:nvSpPr>
        <p:spPr>
          <a:xfrm>
            <a:off x="110061" y="839394"/>
            <a:ext cx="11953150" cy="5909310"/>
          </a:xfrm>
          <a:prstGeom prst="rect">
            <a:avLst/>
          </a:prstGeom>
          <a:noFill/>
        </p:spPr>
        <p:txBody>
          <a:bodyPr wrap="square" rtlCol="0">
            <a:spAutoFit/>
          </a:bodyPr>
          <a:lstStyle/>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Afficher les dimensions d’un dataframe: dim(df)</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Concatener deux dataframes côtes à côtes: </a:t>
            </a:r>
            <a:r>
              <a:rPr lang="fr-FR" b="1">
                <a:latin typeface="CMU Serif" panose="02000603000000000000" pitchFamily="2" charset="0"/>
                <a:ea typeface="CMU Serif" panose="02000603000000000000" pitchFamily="2" charset="0"/>
                <a:cs typeface="CMU Serif" panose="02000603000000000000" pitchFamily="2" charset="0"/>
              </a:rPr>
              <a:t>c</a:t>
            </a:r>
            <a:r>
              <a:rPr lang="fr-FR">
                <a:latin typeface="CMU Serif" panose="02000603000000000000" pitchFamily="2" charset="0"/>
                <a:ea typeface="CMU Serif" panose="02000603000000000000" pitchFamily="2" charset="0"/>
                <a:cs typeface="CMU Serif" panose="02000603000000000000" pitchFamily="2" charset="0"/>
              </a:rPr>
              <a:t>bind, comme Colonne bind</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Concatener deux dataframes l’un sous l’autre: </a:t>
            </a:r>
            <a:r>
              <a:rPr lang="fr-FR" b="1">
                <a:latin typeface="CMU Serif" panose="02000603000000000000" pitchFamily="2" charset="0"/>
                <a:ea typeface="CMU Serif" panose="02000603000000000000" pitchFamily="2" charset="0"/>
                <a:cs typeface="CMU Serif" panose="02000603000000000000" pitchFamily="2" charset="0"/>
              </a:rPr>
              <a:t>r</a:t>
            </a:r>
            <a:r>
              <a:rPr lang="fr-FR">
                <a:latin typeface="CMU Serif" panose="02000603000000000000" pitchFamily="2" charset="0"/>
                <a:ea typeface="CMU Serif" panose="02000603000000000000" pitchFamily="2" charset="0"/>
                <a:cs typeface="CMU Serif" panose="02000603000000000000" pitchFamily="2" charset="0"/>
              </a:rPr>
              <a:t>bind, comme Row bind</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Afficher les noms de colonnes: colnames(df)</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Afficher les noms de lignes: rownames(df)</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Renommer les colonnes: colnames(df) = c(…)</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Renommer les lignes: rownames(df) = c(…)</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Afficher les N premières lignes: head(df, N)</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Afficher les N dernières lignes: tail(df, N)</a:t>
            </a:r>
          </a:p>
          <a:p>
            <a:endParaRPr lang="fr-FR">
              <a:latin typeface="CMU Serif" panose="02000603000000000000" pitchFamily="2" charset="0"/>
              <a:ea typeface="CMU Serif" panose="02000603000000000000" pitchFamily="2" charset="0"/>
              <a:cs typeface="CMU Serif" panose="02000603000000000000" pitchFamily="2" charset="0"/>
            </a:endParaRPr>
          </a:p>
          <a:p>
            <a:r>
              <a:rPr lang="fr-FR" u="sng">
                <a:latin typeface="CMU Serif" panose="02000603000000000000" pitchFamily="2" charset="0"/>
                <a:ea typeface="CMU Serif" panose="02000603000000000000" pitchFamily="2" charset="0"/>
                <a:cs typeface="CMU Serif" panose="02000603000000000000" pitchFamily="2" charset="0"/>
              </a:rPr>
              <a:t>Exercice: </a:t>
            </a:r>
          </a:p>
          <a:p>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Importer les fichiers « eia_data.csv » et « brent.csv » à l’aide de la fonction read_table (en faisant attention aux separarateurs de colonnes, et avec la premiere ligne comme noms de colonnes). Faites de même avec read.csv</a:t>
            </a: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Vérifier qu’ils ont les bonnes dimensions pour les fusionner</a:t>
            </a: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Concatener les deux dataframes (ne prendre qu’une seule colonne « date »)</a:t>
            </a:r>
          </a:p>
          <a:p>
            <a:pPr marL="342900"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Renommer les colonnes en : c("date","cocpopec","copsopec","paprnonopec","papropec","paprrus","paprus","pascoecd","patcchn","patcnonoecd","patcoecd","patcwld","brent")</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374932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4 – Les dataframes (3/3)</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14</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9" name="ZoneTexte 8">
            <a:extLst>
              <a:ext uri="{FF2B5EF4-FFF2-40B4-BE49-F238E27FC236}">
                <a16:creationId xmlns:a16="http://schemas.microsoft.com/office/drawing/2014/main" id="{DBBD99AD-C9D1-CDCD-974E-C6C839D2181E}"/>
              </a:ext>
            </a:extLst>
          </p:cNvPr>
          <p:cNvSpPr txBox="1"/>
          <p:nvPr/>
        </p:nvSpPr>
        <p:spPr>
          <a:xfrm>
            <a:off x="6615449" y="604285"/>
            <a:ext cx="5374782" cy="590931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400">
                <a:solidFill>
                  <a:schemeClr val="accent6">
                    <a:lumMod val="60000"/>
                    <a:lumOff val="40000"/>
                  </a:schemeClr>
                </a:solidFill>
              </a:rPr>
              <a:t># Créer un DF et transformer une colonne en facteur </a:t>
            </a:r>
          </a:p>
          <a:p>
            <a:r>
              <a:rPr lang="fr-FR" sz="1400">
                <a:solidFill>
                  <a:schemeClr val="bg1"/>
                </a:solidFill>
              </a:rPr>
              <a:t>taille   = c(121, 156, 194)</a:t>
            </a:r>
          </a:p>
          <a:p>
            <a:r>
              <a:rPr lang="fr-FR" sz="1400">
                <a:solidFill>
                  <a:schemeClr val="bg1"/>
                </a:solidFill>
              </a:rPr>
              <a:t>poids  = c(67, 78, 235)</a:t>
            </a:r>
          </a:p>
          <a:p>
            <a:r>
              <a:rPr lang="fr-FR" sz="1400">
                <a:solidFill>
                  <a:schemeClr val="bg1"/>
                </a:solidFill>
              </a:rPr>
              <a:t>sexe    = c("Homme","Femme","Homme")</a:t>
            </a:r>
          </a:p>
          <a:p>
            <a:r>
              <a:rPr lang="fr-FR" sz="1400">
                <a:solidFill>
                  <a:schemeClr val="bg1"/>
                </a:solidFill>
              </a:rPr>
              <a:t>mydata = data.frame(taille = taille, poids = poids, sexe = sexe)</a:t>
            </a:r>
          </a:p>
          <a:p>
            <a:endParaRPr lang="en-US" sz="1400">
              <a:solidFill>
                <a:schemeClr val="accent6">
                  <a:lumMod val="60000"/>
                  <a:lumOff val="40000"/>
                </a:schemeClr>
              </a:solidFill>
            </a:endParaRPr>
          </a:p>
          <a:p>
            <a:r>
              <a:rPr lang="en-US" sz="1400">
                <a:solidFill>
                  <a:schemeClr val="bg1"/>
                </a:solidFill>
              </a:rPr>
              <a:t>mydata$sexe = as.factor(mydata$sexe)</a:t>
            </a:r>
          </a:p>
          <a:p>
            <a:endParaRPr lang="en-US" sz="1400">
              <a:solidFill>
                <a:schemeClr val="bg1"/>
              </a:solidFill>
            </a:endParaRPr>
          </a:p>
          <a:p>
            <a:r>
              <a:rPr lang="en-US" sz="1400">
                <a:solidFill>
                  <a:schemeClr val="accent6">
                    <a:lumMod val="60000"/>
                    <a:lumOff val="40000"/>
                  </a:schemeClr>
                </a:solidFill>
              </a:rPr>
              <a:t># Importer un fichier csv</a:t>
            </a:r>
          </a:p>
          <a:p>
            <a:r>
              <a:rPr lang="en-US" sz="1400">
                <a:solidFill>
                  <a:schemeClr val="bg1"/>
                </a:solidFill>
              </a:rPr>
              <a:t>df = read.csv("input/eia_data.csv")</a:t>
            </a:r>
          </a:p>
          <a:p>
            <a:endParaRPr lang="en-US" sz="1400">
              <a:solidFill>
                <a:schemeClr val="bg1"/>
              </a:solidFill>
            </a:endParaRPr>
          </a:p>
          <a:p>
            <a:r>
              <a:rPr lang="en-US" sz="1400">
                <a:solidFill>
                  <a:schemeClr val="accent6">
                    <a:lumMod val="60000"/>
                    <a:lumOff val="40000"/>
                  </a:schemeClr>
                </a:solidFill>
              </a:rPr>
              <a:t># Faire la moyenne des lignes</a:t>
            </a:r>
          </a:p>
          <a:p>
            <a:r>
              <a:rPr lang="en-US" sz="1400">
                <a:solidFill>
                  <a:schemeClr val="bg1"/>
                </a:solidFill>
              </a:rPr>
              <a:t>apply(df, 1, mean)</a:t>
            </a:r>
          </a:p>
          <a:p>
            <a:r>
              <a:rPr lang="en-US" sz="1400">
                <a:solidFill>
                  <a:schemeClr val="bg1"/>
                </a:solidFill>
              </a:rPr>
              <a:t>apply(df, 1, function(x) mean(x) )</a:t>
            </a:r>
          </a:p>
          <a:p>
            <a:r>
              <a:rPr lang="en-US" sz="1400">
                <a:solidFill>
                  <a:schemeClr val="accent6">
                    <a:lumMod val="60000"/>
                    <a:lumOff val="40000"/>
                  </a:schemeClr>
                </a:solidFill>
              </a:rPr>
              <a:t># Ajouter une nouvelle colonne au DF avec cette moyenne</a:t>
            </a:r>
          </a:p>
          <a:p>
            <a:r>
              <a:rPr lang="en-US" sz="1400">
                <a:solidFill>
                  <a:schemeClr val="bg1"/>
                </a:solidFill>
              </a:rPr>
              <a:t>df["meanrow"] = apply(df, 1, function(x) mean(x) )</a:t>
            </a:r>
          </a:p>
          <a:p>
            <a:r>
              <a:rPr lang="en-US" sz="1400">
                <a:solidFill>
                  <a:schemeClr val="accent6">
                    <a:lumMod val="60000"/>
                    <a:lumOff val="40000"/>
                  </a:schemeClr>
                </a:solidFill>
              </a:rPr>
              <a:t># Calculer une moyenne mobile 10 jours</a:t>
            </a:r>
          </a:p>
          <a:p>
            <a:r>
              <a:rPr lang="en-US" sz="1400">
                <a:solidFill>
                  <a:schemeClr val="bg1"/>
                </a:solidFill>
              </a:rPr>
              <a:t>library(zoo)</a:t>
            </a:r>
          </a:p>
          <a:p>
            <a:r>
              <a:rPr lang="en-US" sz="1400">
                <a:solidFill>
                  <a:schemeClr val="bg1"/>
                </a:solidFill>
              </a:rPr>
              <a:t>rollapply(df, 10, function(x) mean(x))</a:t>
            </a:r>
          </a:p>
          <a:p>
            <a:endParaRPr lang="en-US" sz="1400">
              <a:solidFill>
                <a:schemeClr val="bg1"/>
              </a:solidFill>
            </a:endParaRPr>
          </a:p>
          <a:p>
            <a:r>
              <a:rPr lang="en-US" sz="1400">
                <a:solidFill>
                  <a:schemeClr val="accent6">
                    <a:lumMod val="60000"/>
                    <a:lumOff val="40000"/>
                  </a:schemeClr>
                </a:solidFill>
              </a:rPr>
              <a:t># Passage à un format long</a:t>
            </a:r>
          </a:p>
          <a:p>
            <a:r>
              <a:rPr lang="en-US" sz="1400">
                <a:solidFill>
                  <a:schemeClr val="bg1"/>
                </a:solidFill>
              </a:rPr>
              <a:t>library(reshape2)</a:t>
            </a:r>
          </a:p>
          <a:p>
            <a:r>
              <a:rPr lang="en-US" sz="1400">
                <a:solidFill>
                  <a:schemeClr val="bg1"/>
                </a:solidFill>
              </a:rPr>
              <a:t>df_melt = melt(df, id.vars = "date", variable.name="symbol")</a:t>
            </a:r>
          </a:p>
          <a:p>
            <a:endParaRPr lang="en-US" sz="1400">
              <a:solidFill>
                <a:schemeClr val="bg1"/>
              </a:solidFill>
            </a:endParaRPr>
          </a:p>
          <a:p>
            <a:r>
              <a:rPr lang="en-US" sz="1400">
                <a:solidFill>
                  <a:schemeClr val="accent6">
                    <a:lumMod val="60000"/>
                    <a:lumOff val="40000"/>
                  </a:schemeClr>
                </a:solidFill>
              </a:rPr>
              <a:t># Repasser à un format wide</a:t>
            </a:r>
          </a:p>
          <a:p>
            <a:r>
              <a:rPr lang="en-US" sz="1400">
                <a:solidFill>
                  <a:schemeClr val="bg1"/>
                </a:solidFill>
              </a:rPr>
              <a:t>dcast(df_melt, formula = "date ~ symbol", fun.aggregate = mean)</a:t>
            </a:r>
          </a:p>
        </p:txBody>
      </p:sp>
      <p:sp>
        <p:nvSpPr>
          <p:cNvPr id="25" name="ZoneTexte 24">
            <a:extLst>
              <a:ext uri="{FF2B5EF4-FFF2-40B4-BE49-F238E27FC236}">
                <a16:creationId xmlns:a16="http://schemas.microsoft.com/office/drawing/2014/main" id="{F775CACD-2921-70ED-F3E5-1D3AECCABC3A}"/>
              </a:ext>
            </a:extLst>
          </p:cNvPr>
          <p:cNvSpPr txBox="1"/>
          <p:nvPr/>
        </p:nvSpPr>
        <p:spPr>
          <a:xfrm>
            <a:off x="110062" y="839394"/>
            <a:ext cx="6797307" cy="5909310"/>
          </a:xfrm>
          <a:prstGeom prst="rect">
            <a:avLst/>
          </a:prstGeom>
          <a:noFill/>
        </p:spPr>
        <p:txBody>
          <a:bodyPr wrap="square" rtlCol="0">
            <a:spAutoFit/>
          </a:bodyPr>
          <a:lstStyle/>
          <a:p>
            <a:endParaRPr lang="fr-FR">
              <a:latin typeface="CMU Serif" panose="02000603000000000000" pitchFamily="2" charset="0"/>
              <a:ea typeface="CMU Serif" panose="02000603000000000000" pitchFamily="2" charset="0"/>
              <a:cs typeface="CMU Serif" panose="02000603000000000000" pitchFamily="2" charset="0"/>
            </a:endParaRP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Transformer une colonne en facteur: as.factor(df["…"])</a:t>
            </a:r>
          </a:p>
          <a:p>
            <a:pPr lvl="1"/>
            <a:r>
              <a:rPr lang="fr-FR">
                <a:latin typeface="CMU Serif" panose="02000603000000000000" pitchFamily="2" charset="0"/>
                <a:ea typeface="CMU Serif" panose="02000603000000000000" pitchFamily="2" charset="0"/>
                <a:cs typeface="CMU Serif" panose="02000603000000000000" pitchFamily="2" charset="0"/>
              </a:rPr>
              <a:t>Une colonne en facteur ne peux contenir que des données définies dans ce facteur, sinon cela créé un NA</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Afficher les valeurs distinctes d’une colonne: table(df["…"])</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Afficher les statistiques d’un dataframe: summary(df)</a:t>
            </a: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Trier un df par rapport à une colonnes: df[order(df["…"]), ]</a:t>
            </a:r>
          </a:p>
          <a:p>
            <a:pPr marL="285750"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Faire une operation matricielle en ligne ou en colonne (ici la moyenne):</a:t>
            </a:r>
          </a:p>
          <a:p>
            <a:pPr marL="742950" lvl="1" indent="-285750">
              <a:buFont typeface="Courier New" panose="02070309020205020404" pitchFamily="49" charset="0"/>
              <a:buChar char="o"/>
            </a:pPr>
            <a:r>
              <a:rPr lang="fr-FR">
                <a:latin typeface="CMU Serif" panose="02000603000000000000" pitchFamily="2" charset="0"/>
                <a:ea typeface="CMU Serif" panose="02000603000000000000" pitchFamily="2" charset="0"/>
                <a:cs typeface="CMU Serif" panose="02000603000000000000" pitchFamily="2" charset="0"/>
              </a:rPr>
              <a:t>En ligne : apply(df, </a:t>
            </a:r>
            <a:r>
              <a:rPr lang="fr-FR" b="1">
                <a:latin typeface="CMU Serif" panose="02000603000000000000" pitchFamily="2" charset="0"/>
                <a:ea typeface="CMU Serif" panose="02000603000000000000" pitchFamily="2" charset="0"/>
                <a:cs typeface="CMU Serif" panose="02000603000000000000" pitchFamily="2" charset="0"/>
              </a:rPr>
              <a:t>1</a:t>
            </a:r>
            <a:r>
              <a:rPr lang="fr-FR">
                <a:latin typeface="CMU Serif" panose="02000603000000000000" pitchFamily="2" charset="0"/>
                <a:ea typeface="CMU Serif" panose="02000603000000000000" pitchFamily="2" charset="0"/>
                <a:cs typeface="CMU Serif" panose="02000603000000000000" pitchFamily="2" charset="0"/>
              </a:rPr>
              <a:t>, function(x) mean(x) )</a:t>
            </a:r>
          </a:p>
          <a:p>
            <a:pPr marL="742950" lvl="1" indent="-285750">
              <a:buFont typeface="Courier New" panose="02070309020205020404" pitchFamily="49" charset="0"/>
              <a:buChar char="o"/>
            </a:pPr>
            <a:r>
              <a:rPr lang="fr-FR">
                <a:latin typeface="CMU Serif" panose="02000603000000000000" pitchFamily="2" charset="0"/>
                <a:ea typeface="CMU Serif" panose="02000603000000000000" pitchFamily="2" charset="0"/>
                <a:cs typeface="CMU Serif" panose="02000603000000000000" pitchFamily="2" charset="0"/>
              </a:rPr>
              <a:t>En colonne: apply(df, </a:t>
            </a:r>
            <a:r>
              <a:rPr lang="fr-FR" b="1">
                <a:latin typeface="CMU Serif" panose="02000603000000000000" pitchFamily="2" charset="0"/>
                <a:ea typeface="CMU Serif" panose="02000603000000000000" pitchFamily="2" charset="0"/>
                <a:cs typeface="CMU Serif" panose="02000603000000000000" pitchFamily="2" charset="0"/>
              </a:rPr>
              <a:t>2</a:t>
            </a:r>
            <a:r>
              <a:rPr lang="fr-FR">
                <a:latin typeface="CMU Serif" panose="02000603000000000000" pitchFamily="2" charset="0"/>
                <a:ea typeface="CMU Serif" panose="02000603000000000000" pitchFamily="2" charset="0"/>
                <a:cs typeface="CMU Serif" panose="02000603000000000000" pitchFamily="2" charset="0"/>
              </a:rPr>
              <a:t>, function(x) mean(x) )</a:t>
            </a:r>
          </a:p>
          <a:p>
            <a:pPr marL="285750"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Faire une operation glissante sur N périodes (ici moyenne mobile):</a:t>
            </a:r>
          </a:p>
          <a:p>
            <a:pPr marL="742950" lvl="1" indent="-285750">
              <a:buFont typeface="Courier New" panose="02070309020205020404" pitchFamily="49" charset="0"/>
              <a:buChar char="o"/>
            </a:pPr>
            <a:r>
              <a:rPr lang="fr-FR">
                <a:latin typeface="CMU Serif" panose="02000603000000000000" pitchFamily="2" charset="0"/>
                <a:ea typeface="CMU Serif" panose="02000603000000000000" pitchFamily="2" charset="0"/>
                <a:cs typeface="CMU Serif" panose="02000603000000000000" pitchFamily="2" charset="0"/>
              </a:rPr>
              <a:t>rollapply(df, N, function(x) mean(x) )</a:t>
            </a:r>
          </a:p>
          <a:p>
            <a:pPr marL="285750"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Passer d’un format long à wide et inversement:</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Long =&gt; wide: cast(df, …)</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Wide =&gt; long: melt(df, …)</a:t>
            </a:r>
          </a:p>
          <a:p>
            <a:endParaRPr lang="fr-FR">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34085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5 – Les series temporelles (1/2)</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15</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9" name="ZoneTexte 8">
            <a:extLst>
              <a:ext uri="{FF2B5EF4-FFF2-40B4-BE49-F238E27FC236}">
                <a16:creationId xmlns:a16="http://schemas.microsoft.com/office/drawing/2014/main" id="{DBBD99AD-C9D1-CDCD-974E-C6C839D2181E}"/>
              </a:ext>
            </a:extLst>
          </p:cNvPr>
          <p:cNvSpPr txBox="1"/>
          <p:nvPr/>
        </p:nvSpPr>
        <p:spPr>
          <a:xfrm>
            <a:off x="8007923" y="695695"/>
            <a:ext cx="4074016" cy="289310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400">
                <a:solidFill>
                  <a:schemeClr val="accent6">
                    <a:lumMod val="60000"/>
                    <a:lumOff val="40000"/>
                  </a:schemeClr>
                </a:solidFill>
              </a:rPr>
              <a:t># Créer un ts avec des données mensuelles</a:t>
            </a:r>
            <a:br>
              <a:rPr lang="en-US" sz="1400">
                <a:solidFill>
                  <a:schemeClr val="accent6">
                    <a:lumMod val="60000"/>
                    <a:lumOff val="40000"/>
                  </a:schemeClr>
                </a:solidFill>
              </a:rPr>
            </a:br>
            <a:r>
              <a:rPr lang="en-US" sz="1400">
                <a:solidFill>
                  <a:schemeClr val="bg1"/>
                </a:solidFill>
              </a:rPr>
              <a:t>my_ts = ts(1:100, start = 2021, frequency = 12)</a:t>
            </a:r>
          </a:p>
          <a:p>
            <a:r>
              <a:rPr lang="en-US" sz="1400">
                <a:solidFill>
                  <a:schemeClr val="accent6">
                    <a:lumMod val="60000"/>
                    <a:lumOff val="40000"/>
                  </a:schemeClr>
                </a:solidFill>
              </a:rPr>
              <a:t># Sélectionner l’année 2022</a:t>
            </a:r>
          </a:p>
          <a:p>
            <a:r>
              <a:rPr lang="en-US" sz="1400">
                <a:solidFill>
                  <a:schemeClr val="bg1"/>
                </a:solidFill>
              </a:rPr>
              <a:t>window(my_ts, start = 2022, end = c(2022,12))</a:t>
            </a:r>
          </a:p>
          <a:p>
            <a:endParaRPr lang="en-US" sz="1400">
              <a:solidFill>
                <a:schemeClr val="bg1"/>
              </a:solidFill>
            </a:endParaRPr>
          </a:p>
          <a:p>
            <a:r>
              <a:rPr lang="en-US" sz="1400">
                <a:solidFill>
                  <a:schemeClr val="accent6">
                    <a:lumMod val="60000"/>
                    <a:lumOff val="40000"/>
                  </a:schemeClr>
                </a:solidFill>
              </a:rPr>
              <a:t># Créer un xts avec des données mensuelles</a:t>
            </a:r>
          </a:p>
          <a:p>
            <a:r>
              <a:rPr lang="en-US" sz="1400">
                <a:solidFill>
                  <a:schemeClr val="bg1"/>
                </a:solidFill>
              </a:rPr>
              <a:t>library(xts)</a:t>
            </a:r>
          </a:p>
          <a:p>
            <a:r>
              <a:rPr lang="en-US" sz="1400">
                <a:solidFill>
                  <a:schemeClr val="bg1"/>
                </a:solidFill>
              </a:rPr>
              <a:t>dates = as.Date(c('2024-01-01', '2024-02-01', '2024-03-01', '2024-04-01', '2024-05-01'))</a:t>
            </a:r>
          </a:p>
          <a:p>
            <a:r>
              <a:rPr lang="en-US" sz="1400">
                <a:solidFill>
                  <a:schemeClr val="bg1"/>
                </a:solidFill>
              </a:rPr>
              <a:t>my_xts &lt;- xts(1:5, order.by = dates)</a:t>
            </a:r>
          </a:p>
          <a:p>
            <a:r>
              <a:rPr lang="en-US" sz="1400">
                <a:solidFill>
                  <a:schemeClr val="accent6">
                    <a:lumMod val="60000"/>
                    <a:lumOff val="40000"/>
                  </a:schemeClr>
                </a:solidFill>
              </a:rPr>
              <a:t># Sélectionner le premier trimester 2024</a:t>
            </a:r>
          </a:p>
          <a:p>
            <a:r>
              <a:rPr lang="en-US" sz="1400">
                <a:solidFill>
                  <a:schemeClr val="bg1"/>
                </a:solidFill>
              </a:rPr>
              <a:t>my_xts["2024-01/2024-03"]</a:t>
            </a:r>
          </a:p>
          <a:p>
            <a:endParaRPr lang="en-US" sz="1400">
              <a:solidFill>
                <a:schemeClr val="accent6">
                  <a:lumMod val="60000"/>
                  <a:lumOff val="40000"/>
                </a:schemeClr>
              </a:solidFill>
            </a:endParaRPr>
          </a:p>
        </p:txBody>
      </p:sp>
      <p:sp>
        <p:nvSpPr>
          <p:cNvPr id="25" name="ZoneTexte 24">
            <a:extLst>
              <a:ext uri="{FF2B5EF4-FFF2-40B4-BE49-F238E27FC236}">
                <a16:creationId xmlns:a16="http://schemas.microsoft.com/office/drawing/2014/main" id="{F775CACD-2921-70ED-F3E5-1D3AECCABC3A}"/>
              </a:ext>
            </a:extLst>
          </p:cNvPr>
          <p:cNvSpPr txBox="1"/>
          <p:nvPr/>
        </p:nvSpPr>
        <p:spPr>
          <a:xfrm>
            <a:off x="110061" y="839394"/>
            <a:ext cx="8660452" cy="7294305"/>
          </a:xfrm>
          <a:prstGeom prst="rect">
            <a:avLst/>
          </a:prstGeom>
          <a:noFill/>
        </p:spPr>
        <p:txBody>
          <a:bodyPr wrap="square" rtlCol="0">
            <a:spAutoFit/>
          </a:bodyPr>
          <a:lstStyle/>
          <a:p>
            <a:r>
              <a:rPr lang="fr-FR">
                <a:latin typeface="CMU Serif" panose="02000603000000000000" pitchFamily="2" charset="0"/>
                <a:ea typeface="CMU Serif" panose="02000603000000000000" pitchFamily="2" charset="0"/>
                <a:cs typeface="CMU Serif" panose="02000603000000000000" pitchFamily="2" charset="0"/>
              </a:rPr>
              <a:t>Une série temporelle est un format matriciel ayant un index au </a:t>
            </a:r>
            <a:r>
              <a:rPr lang="fr-FR" b="1">
                <a:latin typeface="CMU Serif" panose="02000603000000000000" pitchFamily="2" charset="0"/>
                <a:ea typeface="CMU Serif" panose="02000603000000000000" pitchFamily="2" charset="0"/>
                <a:cs typeface="CMU Serif" panose="02000603000000000000" pitchFamily="2" charset="0"/>
              </a:rPr>
              <a:t>format </a:t>
            </a:r>
            <a:br>
              <a:rPr lang="fr-FR" b="1">
                <a:latin typeface="CMU Serif" panose="02000603000000000000" pitchFamily="2" charset="0"/>
                <a:ea typeface="CMU Serif" panose="02000603000000000000" pitchFamily="2" charset="0"/>
                <a:cs typeface="CMU Serif" panose="02000603000000000000" pitchFamily="2" charset="0"/>
              </a:rPr>
            </a:br>
            <a:r>
              <a:rPr lang="fr-FR" b="1">
                <a:latin typeface="CMU Serif" panose="02000603000000000000" pitchFamily="2" charset="0"/>
                <a:ea typeface="CMU Serif" panose="02000603000000000000" pitchFamily="2" charset="0"/>
                <a:cs typeface="CMU Serif" panose="02000603000000000000" pitchFamily="2" charset="0"/>
              </a:rPr>
              <a:t>date</a:t>
            </a:r>
            <a:r>
              <a:rPr lang="fr-FR">
                <a:latin typeface="CMU Serif" panose="02000603000000000000" pitchFamily="2" charset="0"/>
                <a:ea typeface="CMU Serif" panose="02000603000000000000" pitchFamily="2" charset="0"/>
                <a:cs typeface="CMU Serif" panose="02000603000000000000" pitchFamily="2" charset="0"/>
              </a:rPr>
              <a:t>. Il est ensuite possible d’appliquer un grand nombre d’opération sur </a:t>
            </a:r>
            <a:br>
              <a:rPr lang="fr-FR">
                <a:latin typeface="CMU Serif" panose="02000603000000000000" pitchFamily="2" charset="0"/>
                <a:ea typeface="CMU Serif" panose="02000603000000000000" pitchFamily="2" charset="0"/>
                <a:cs typeface="CMU Serif" panose="02000603000000000000" pitchFamily="2" charset="0"/>
              </a:rPr>
            </a:br>
            <a:r>
              <a:rPr lang="fr-FR">
                <a:latin typeface="CMU Serif" panose="02000603000000000000" pitchFamily="2" charset="0"/>
                <a:ea typeface="CMU Serif" panose="02000603000000000000" pitchFamily="2" charset="0"/>
                <a:cs typeface="CMU Serif" panose="02000603000000000000" pitchFamily="2" charset="0"/>
              </a:rPr>
              <a:t>ces séries, comme les lags.</a:t>
            </a:r>
          </a:p>
          <a:p>
            <a:endParaRPr lang="fr-FR">
              <a:latin typeface="CMU Serif" panose="02000603000000000000" pitchFamily="2" charset="0"/>
              <a:ea typeface="CMU Serif" panose="02000603000000000000" pitchFamily="2" charset="0"/>
              <a:cs typeface="CMU Serif" panose="02000603000000000000" pitchFamily="2" charset="0"/>
            </a:endParaRP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Format natif de R: le </a:t>
            </a:r>
            <a:r>
              <a:rPr lang="fr-FR" b="1">
                <a:latin typeface="CMU Serif" panose="02000603000000000000" pitchFamily="2" charset="0"/>
                <a:ea typeface="CMU Serif" panose="02000603000000000000" pitchFamily="2" charset="0"/>
                <a:cs typeface="CMU Serif" panose="02000603000000000000" pitchFamily="2" charset="0"/>
              </a:rPr>
              <a:t>ts</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Connait le temps, dans le sens ou il sait créer des dates</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Ne permet de traiter que les fréquence Annual, Quarterly et Monthly</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Sous-selection temporelle à l’aide de la fonction window</a:t>
            </a:r>
          </a:p>
          <a:p>
            <a:pPr marL="742950" lvl="1"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Format importable : </a:t>
            </a:r>
            <a:r>
              <a:rPr lang="fr-FR" b="1">
                <a:latin typeface="CMU Serif" panose="02000603000000000000" pitchFamily="2" charset="0"/>
                <a:ea typeface="CMU Serif" panose="02000603000000000000" pitchFamily="2" charset="0"/>
                <a:cs typeface="CMU Serif" panose="02000603000000000000" pitchFamily="2" charset="0"/>
              </a:rPr>
              <a:t>xts</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Ne connait pas le temps, il faut lui spécifier les dates. Il n’est pas </a:t>
            </a:r>
            <a:br>
              <a:rPr lang="fr-FR">
                <a:latin typeface="CMU Serif" panose="02000603000000000000" pitchFamily="2" charset="0"/>
                <a:ea typeface="CMU Serif" panose="02000603000000000000" pitchFamily="2" charset="0"/>
                <a:cs typeface="CMU Serif" panose="02000603000000000000" pitchFamily="2" charset="0"/>
              </a:rPr>
            </a:br>
            <a:r>
              <a:rPr lang="fr-FR">
                <a:latin typeface="CMU Serif" panose="02000603000000000000" pitchFamily="2" charset="0"/>
                <a:ea typeface="CMU Serif" panose="02000603000000000000" pitchFamily="2" charset="0"/>
                <a:cs typeface="CMU Serif" panose="02000603000000000000" pitchFamily="2" charset="0"/>
              </a:rPr>
              <a:t>capable d’en créer lui-même</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Permet de traiter toutes les fréquences</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Fonctionne exactement comme un Data Frame</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Sous-selection temporelle avec les crochets </a:t>
            </a:r>
          </a:p>
          <a:p>
            <a:pPr marL="1200150" lvl="2"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mon_xts["2021-01-01"] : selectionne le 1</a:t>
            </a:r>
            <a:r>
              <a:rPr lang="fr-FR" baseline="30000">
                <a:latin typeface="CMU Serif" panose="02000603000000000000" pitchFamily="2" charset="0"/>
                <a:ea typeface="CMU Serif" panose="02000603000000000000" pitchFamily="2" charset="0"/>
                <a:cs typeface="CMU Serif" panose="02000603000000000000" pitchFamily="2" charset="0"/>
              </a:rPr>
              <a:t>er</a:t>
            </a:r>
            <a:r>
              <a:rPr lang="fr-FR">
                <a:latin typeface="CMU Serif" panose="02000603000000000000" pitchFamily="2" charset="0"/>
                <a:ea typeface="CMU Serif" panose="02000603000000000000" pitchFamily="2" charset="0"/>
                <a:cs typeface="CMU Serif" panose="02000603000000000000" pitchFamily="2" charset="0"/>
              </a:rPr>
              <a:t> janvier 2021</a:t>
            </a:r>
          </a:p>
          <a:p>
            <a:pPr marL="1200150" lvl="2"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mon_xts["2021-01-01/"] : selectionne depuis le 1</a:t>
            </a:r>
            <a:r>
              <a:rPr lang="fr-FR" baseline="30000">
                <a:latin typeface="CMU Serif" panose="02000603000000000000" pitchFamily="2" charset="0"/>
                <a:ea typeface="CMU Serif" panose="02000603000000000000" pitchFamily="2" charset="0"/>
                <a:cs typeface="CMU Serif" panose="02000603000000000000" pitchFamily="2" charset="0"/>
              </a:rPr>
              <a:t>er</a:t>
            </a:r>
            <a:r>
              <a:rPr lang="fr-FR">
                <a:latin typeface="CMU Serif" panose="02000603000000000000" pitchFamily="2" charset="0"/>
                <a:ea typeface="CMU Serif" panose="02000603000000000000" pitchFamily="2" charset="0"/>
                <a:cs typeface="CMU Serif" panose="02000603000000000000" pitchFamily="2" charset="0"/>
              </a:rPr>
              <a:t> janvier 2021</a:t>
            </a:r>
          </a:p>
          <a:p>
            <a:pPr marL="1200150" lvl="2"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mon_xts[« /2021-01-01"] : selectionne jusqu’au 1</a:t>
            </a:r>
            <a:r>
              <a:rPr lang="fr-FR" baseline="30000">
                <a:latin typeface="CMU Serif" panose="02000603000000000000" pitchFamily="2" charset="0"/>
                <a:ea typeface="CMU Serif" panose="02000603000000000000" pitchFamily="2" charset="0"/>
                <a:cs typeface="CMU Serif" panose="02000603000000000000" pitchFamily="2" charset="0"/>
              </a:rPr>
              <a:t>er</a:t>
            </a:r>
            <a:r>
              <a:rPr lang="fr-FR">
                <a:latin typeface="CMU Serif" panose="02000603000000000000" pitchFamily="2" charset="0"/>
                <a:ea typeface="CMU Serif" panose="02000603000000000000" pitchFamily="2" charset="0"/>
                <a:cs typeface="CMU Serif" panose="02000603000000000000" pitchFamily="2" charset="0"/>
              </a:rPr>
              <a:t> janvier 2021</a:t>
            </a:r>
          </a:p>
          <a:p>
            <a:pPr marL="1200150" lvl="2"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mon_xts["2020-01-01/2021-01-01"] : selectionne du 1</a:t>
            </a:r>
            <a:r>
              <a:rPr lang="fr-FR" baseline="30000">
                <a:latin typeface="CMU Serif" panose="02000603000000000000" pitchFamily="2" charset="0"/>
                <a:ea typeface="CMU Serif" panose="02000603000000000000" pitchFamily="2" charset="0"/>
                <a:cs typeface="CMU Serif" panose="02000603000000000000" pitchFamily="2" charset="0"/>
              </a:rPr>
              <a:t>er</a:t>
            </a:r>
            <a:r>
              <a:rPr lang="fr-FR">
                <a:latin typeface="CMU Serif" panose="02000603000000000000" pitchFamily="2" charset="0"/>
                <a:ea typeface="CMU Serif" panose="02000603000000000000" pitchFamily="2" charset="0"/>
                <a:cs typeface="CMU Serif" panose="02000603000000000000" pitchFamily="2" charset="0"/>
              </a:rPr>
              <a:t> janvier 2020 jusqu’au 1</a:t>
            </a:r>
            <a:r>
              <a:rPr lang="fr-FR" baseline="30000">
                <a:latin typeface="CMU Serif" panose="02000603000000000000" pitchFamily="2" charset="0"/>
                <a:ea typeface="CMU Serif" panose="02000603000000000000" pitchFamily="2" charset="0"/>
                <a:cs typeface="CMU Serif" panose="02000603000000000000" pitchFamily="2" charset="0"/>
              </a:rPr>
              <a:t>er</a:t>
            </a:r>
            <a:r>
              <a:rPr lang="fr-FR">
                <a:latin typeface="CMU Serif" panose="02000603000000000000" pitchFamily="2" charset="0"/>
                <a:ea typeface="CMU Serif" panose="02000603000000000000" pitchFamily="2" charset="0"/>
                <a:cs typeface="CMU Serif" panose="02000603000000000000" pitchFamily="2" charset="0"/>
              </a:rPr>
              <a:t> janvier 2021</a:t>
            </a:r>
          </a:p>
          <a:p>
            <a:pPr marL="1200150" lvl="2"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742950" lvl="1"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742950" lvl="1"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285750"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endParaRPr lang="fr-FR">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3108163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5 – Les series temporelles (2/2)</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16</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25" name="ZoneTexte 24">
            <a:extLst>
              <a:ext uri="{FF2B5EF4-FFF2-40B4-BE49-F238E27FC236}">
                <a16:creationId xmlns:a16="http://schemas.microsoft.com/office/drawing/2014/main" id="{F775CACD-2921-70ED-F3E5-1D3AECCABC3A}"/>
              </a:ext>
            </a:extLst>
          </p:cNvPr>
          <p:cNvSpPr txBox="1"/>
          <p:nvPr/>
        </p:nvSpPr>
        <p:spPr>
          <a:xfrm>
            <a:off x="110061" y="839394"/>
            <a:ext cx="11841533" cy="5355312"/>
          </a:xfrm>
          <a:prstGeom prst="rect">
            <a:avLst/>
          </a:prstGeom>
          <a:noFill/>
        </p:spPr>
        <p:txBody>
          <a:bodyPr wrap="square" rtlCol="0">
            <a:spAutoFit/>
          </a:bodyPr>
          <a:lstStyle/>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Créer un lag (</a:t>
            </a:r>
            <a:r>
              <a:rPr lang="fr-FR" b="1">
                <a:latin typeface="CMU Serif" panose="02000603000000000000" pitchFamily="2" charset="0"/>
                <a:ea typeface="CMU Serif" panose="02000603000000000000" pitchFamily="2" charset="0"/>
                <a:cs typeface="CMU Serif" panose="02000603000000000000" pitchFamily="2" charset="0"/>
              </a:rPr>
              <a:t>attention, ils n’ont pas été implémentés dans le même sens !</a:t>
            </a:r>
            <a:r>
              <a:rPr lang="fr-FR">
                <a:latin typeface="CMU Serif" panose="02000603000000000000" pitchFamily="2" charset="0"/>
                <a:ea typeface="CMU Serif" panose="02000603000000000000" pitchFamily="2" charset="0"/>
                <a:cs typeface="CMU Serif" panose="02000603000000000000" pitchFamily="2" charset="0"/>
              </a:rPr>
              <a:t>)</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ts: lag(my_ts, </a:t>
            </a:r>
            <a:r>
              <a:rPr lang="fr-FR" b="1">
                <a:latin typeface="CMU Serif" panose="02000603000000000000" pitchFamily="2" charset="0"/>
                <a:ea typeface="CMU Serif" panose="02000603000000000000" pitchFamily="2" charset="0"/>
                <a:cs typeface="CMU Serif" panose="02000603000000000000" pitchFamily="2" charset="0"/>
              </a:rPr>
              <a:t>-1</a:t>
            </a:r>
            <a:r>
              <a:rPr lang="fr-FR">
                <a:latin typeface="CMU Serif" panose="02000603000000000000" pitchFamily="2" charset="0"/>
                <a:ea typeface="CMU Serif" panose="02000603000000000000" pitchFamily="2" charset="0"/>
                <a:cs typeface="CMU Serif" panose="02000603000000000000" pitchFamily="2" charset="0"/>
              </a:rPr>
              <a:t>) -&gt; un nouveau point est crée car le ts est capable de créer le temps</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xts: lag(my_xts, </a:t>
            </a:r>
            <a:r>
              <a:rPr lang="fr-FR" b="1">
                <a:latin typeface="CMU Serif" panose="02000603000000000000" pitchFamily="2" charset="0"/>
                <a:ea typeface="CMU Serif" panose="02000603000000000000" pitchFamily="2" charset="0"/>
                <a:cs typeface="CMU Serif" panose="02000603000000000000" pitchFamily="2" charset="0"/>
              </a:rPr>
              <a:t>1</a:t>
            </a:r>
            <a:r>
              <a:rPr lang="fr-FR">
                <a:latin typeface="CMU Serif" panose="02000603000000000000" pitchFamily="2" charset="0"/>
                <a:ea typeface="CMU Serif" panose="02000603000000000000" pitchFamily="2" charset="0"/>
                <a:cs typeface="CMU Serif" panose="02000603000000000000" pitchFamily="2" charset="0"/>
              </a:rPr>
              <a:t>) -&gt; aucun nouveau point n’est créé car le xts ne sait pas créer le temps, on pert donc une valeur</a:t>
            </a:r>
          </a:p>
          <a:p>
            <a:pPr marL="285750"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Agréger les données pour changer la fréquence</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ts : </a:t>
            </a:r>
            <a:r>
              <a:rPr lang="en-US">
                <a:latin typeface="CMU Serif" panose="02000603000000000000" pitchFamily="2" charset="0"/>
                <a:ea typeface="CMU Serif" panose="02000603000000000000" pitchFamily="2" charset="0"/>
                <a:cs typeface="CMU Serif" panose="02000603000000000000" pitchFamily="2" charset="0"/>
              </a:rPr>
              <a:t>aggregate(my_ts, nfrequency = 4, FUN = mean)</a:t>
            </a:r>
            <a:endParaRPr lang="fr-FR">
              <a:latin typeface="CMU Serif" panose="02000603000000000000" pitchFamily="2" charset="0"/>
              <a:ea typeface="CMU Serif" panose="02000603000000000000" pitchFamily="2" charset="0"/>
              <a:cs typeface="CMU Serif" panose="02000603000000000000" pitchFamily="2" charset="0"/>
            </a:endParaRP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xts : apply.quarterly(my_xts, mean) </a:t>
            </a:r>
          </a:p>
          <a:p>
            <a:pPr marL="285750" indent="-285750">
              <a:buFont typeface="Arial" panose="020B0604020202020204" pitchFamily="34" charset="0"/>
              <a:buChar char="•"/>
            </a:pPr>
            <a:endParaRPr lang="fr-FR">
              <a:latin typeface="CMU Serif" panose="02000603000000000000" pitchFamily="2" charset="0"/>
              <a:ea typeface="CMU Serif" panose="02000603000000000000" pitchFamily="2" charset="0"/>
              <a:cs typeface="CMU Serif" panose="02000603000000000000" pitchFamily="2" charset="0"/>
            </a:endParaRPr>
          </a:p>
          <a:p>
            <a:pPr marL="285750"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Gérer les données manquantes :</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na.locf(df, fromLast = False) : complète les données manquantes par la dernière valeur connue (si fromLast = T, alors on utilise la prochaine valeur connue)</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na.fill(df, fill=0) : complète les données manquantes par un 0 (ou pour toute autre valeur renseignée au paramétre fill)</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na.approx(df) : effectue une interpolation linéaire sur toutes les valeurs manquantes</a:t>
            </a:r>
          </a:p>
          <a:p>
            <a:pPr marL="742950" lvl="1" indent="-285750">
              <a:buFont typeface="Arial" panose="020B0604020202020204" pitchFamily="34" charset="0"/>
              <a:buChar char="•"/>
            </a:pPr>
            <a:r>
              <a:rPr lang="fr-FR">
                <a:latin typeface="CMU Serif" panose="02000603000000000000" pitchFamily="2" charset="0"/>
                <a:ea typeface="CMU Serif" panose="02000603000000000000" pitchFamily="2" charset="0"/>
                <a:cs typeface="CMU Serif" panose="02000603000000000000" pitchFamily="2" charset="0"/>
              </a:rPr>
              <a:t>na.spline(df) : effectue une spline sur toutes les valeurs manquantes</a:t>
            </a:r>
          </a:p>
          <a:p>
            <a:pPr lvl="1"/>
            <a:endParaRPr lang="fr-FR">
              <a:latin typeface="CMU Serif" panose="02000603000000000000" pitchFamily="2" charset="0"/>
              <a:ea typeface="CMU Serif" panose="02000603000000000000" pitchFamily="2" charset="0"/>
              <a:cs typeface="CMU Serif" panose="02000603000000000000" pitchFamily="2" charset="0"/>
            </a:endParaRPr>
          </a:p>
          <a:p>
            <a:endParaRPr lang="fr-FR">
              <a:latin typeface="CMU Serif" panose="02000603000000000000" pitchFamily="2" charset="0"/>
              <a:ea typeface="CMU Serif" panose="02000603000000000000" pitchFamily="2" charset="0"/>
              <a:cs typeface="CMU Serif" panose="02000603000000000000" pitchFamily="2" charset="0"/>
            </a:endParaRPr>
          </a:p>
          <a:p>
            <a:endParaRPr lang="fr-FR">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944074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33267E-B6D5-0D78-F80F-A804A7552549}"/>
              </a:ext>
            </a:extLst>
          </p:cNvPr>
          <p:cNvSpPr/>
          <p:nvPr/>
        </p:nvSpPr>
        <p:spPr>
          <a:xfrm>
            <a:off x="0" y="0"/>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21E98FC-34D1-9133-B23D-081C84D0D208}"/>
              </a:ext>
            </a:extLst>
          </p:cNvPr>
          <p:cNvSpPr/>
          <p:nvPr/>
        </p:nvSpPr>
        <p:spPr>
          <a:xfrm>
            <a:off x="0" y="6536267"/>
            <a:ext cx="12192000" cy="3217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68">
            <a:extLst>
              <a:ext uri="{FF2B5EF4-FFF2-40B4-BE49-F238E27FC236}">
                <a16:creationId xmlns:a16="http://schemas.microsoft.com/office/drawing/2014/main" id="{5C0A56C9-CE94-7B12-55E6-480CCAC4D79F}"/>
              </a:ext>
            </a:extLst>
          </p:cNvPr>
          <p:cNvSpPr/>
          <p:nvPr/>
        </p:nvSpPr>
        <p:spPr>
          <a:xfrm>
            <a:off x="0" y="0"/>
            <a:ext cx="12192000" cy="5742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CMU Serif" panose="02000603000000000000" pitchFamily="2" charset="0"/>
                <a:ea typeface="CMU Serif" panose="02000603000000000000" pitchFamily="2" charset="0"/>
                <a:cs typeface="CMU Serif" panose="02000603000000000000" pitchFamily="2" charset="0"/>
              </a:rPr>
              <a:t>5 - Exercices</a:t>
            </a:r>
            <a:endParaRPr lang="en-US" dirty="0">
              <a:latin typeface="CMU Serif" panose="02000603000000000000" pitchFamily="2" charset="0"/>
              <a:ea typeface="CMU Serif" panose="02000603000000000000" pitchFamily="2" charset="0"/>
              <a:cs typeface="CMU Serif" panose="02000603000000000000" pitchFamily="2" charset="0"/>
            </a:endParaRPr>
          </a:p>
        </p:txBody>
      </p:sp>
      <p:sp>
        <p:nvSpPr>
          <p:cNvPr id="6" name="Espace réservé du numéro de diapositive 3">
            <a:extLst>
              <a:ext uri="{FF2B5EF4-FFF2-40B4-BE49-F238E27FC236}">
                <a16:creationId xmlns:a16="http://schemas.microsoft.com/office/drawing/2014/main" id="{08BDA5FC-6046-5796-C6A3-E7572FAA8629}"/>
              </a:ext>
            </a:extLst>
          </p:cNvPr>
          <p:cNvSpPr txBox="1">
            <a:spLocks/>
          </p:cNvSpPr>
          <p:nvPr/>
        </p:nvSpPr>
        <p:spPr>
          <a:xfrm>
            <a:off x="11792941" y="6536267"/>
            <a:ext cx="50065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5871333-6CDE-4CFE-AC8E-2FE63060C6BC}" type="slidenum">
              <a:rPr lang="en-US" altLang="fr-FR" sz="1400" smtClean="0">
                <a:solidFill>
                  <a:schemeClr val="bg1"/>
                </a:solidFill>
                <a:latin typeface="CMU Serif" panose="02000603000000000000" pitchFamily="2" charset="0"/>
                <a:ea typeface="CMU Serif" panose="02000603000000000000" pitchFamily="2" charset="0"/>
                <a:cs typeface="CMU Serif" panose="02000603000000000000" pitchFamily="2" charset="0"/>
              </a:rPr>
              <a:pPr>
                <a:defRPr/>
              </a:pPr>
              <a:t>17</a:t>
            </a:fld>
            <a:endParaRPr lang="en-US" altLang="fr-FR" sz="1200" dirty="0">
              <a:solidFill>
                <a:schemeClr val="bg1"/>
              </a:solidFill>
              <a:latin typeface="CMU Serif" panose="02000603000000000000" pitchFamily="2" charset="0"/>
              <a:ea typeface="CMU Serif" panose="02000603000000000000" pitchFamily="2" charset="0"/>
              <a:cs typeface="CMU Serif" panose="02000603000000000000" pitchFamily="2" charset="0"/>
            </a:endParaRPr>
          </a:p>
        </p:txBody>
      </p:sp>
      <p:sp>
        <p:nvSpPr>
          <p:cNvPr id="15" name="ZoneTexte 14">
            <a:extLst>
              <a:ext uri="{FF2B5EF4-FFF2-40B4-BE49-F238E27FC236}">
                <a16:creationId xmlns:a16="http://schemas.microsoft.com/office/drawing/2014/main" id="{298DA1BD-7969-D1A6-C722-D32CB56603EB}"/>
              </a:ext>
            </a:extLst>
          </p:cNvPr>
          <p:cNvSpPr txBox="1"/>
          <p:nvPr/>
        </p:nvSpPr>
        <p:spPr>
          <a:xfrm>
            <a:off x="154545" y="715083"/>
            <a:ext cx="12076092" cy="5632311"/>
          </a:xfrm>
          <a:prstGeom prst="rect">
            <a:avLst/>
          </a:prstGeom>
          <a:noFill/>
        </p:spPr>
        <p:txBody>
          <a:bodyPr wrap="square" rtlCol="0">
            <a:spAutoFit/>
          </a:bodyPr>
          <a:lstStyle/>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Importer les fichiers brent.csv et eia_data.csv depuis le repertoire input et renommer les colonnes</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Transformer ces deux structures en série temporelle avec un format xts</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Fusionner les données dans une variable « base »</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Formater « base » en trimestrielle</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Créer une variable « base_ts » qui est la même que « base » mais au format ts</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Effectuer un lag de 5 trimestres sur la colonne « brent » de « base » et l’ajouter dans la base</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Calculer une moyenne mobile 6 trimestres sur cette même colonne et l’ajouter dans la base</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Calculer la croissance annuelle du brent et l’ajouter dans la base</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Créer un indicateur qui vaut 1 si la croissance du brent est positive ou nulle, 0 sinon, et l’ajouter dans la base</a:t>
            </a:r>
          </a:p>
          <a:p>
            <a:pPr marL="800100" lvl="1"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a:p>
            <a:pPr marL="800100" lvl="1" indent="-342900">
              <a:buFont typeface="+mj-lt"/>
              <a:buAutoNum type="arabicPeriod"/>
            </a:pPr>
            <a:r>
              <a:rPr lang="fr-FR">
                <a:latin typeface="CMU Serif" panose="02000603000000000000" pitchFamily="2" charset="0"/>
                <a:ea typeface="CMU Serif" panose="02000603000000000000" pitchFamily="2" charset="0"/>
                <a:cs typeface="CMU Serif" panose="02000603000000000000" pitchFamily="2" charset="0"/>
              </a:rPr>
              <a:t>Sauvegarder la base dans un fichier « baseFinale.csv » situé dans un repertoir « output »</a:t>
            </a:r>
          </a:p>
          <a:p>
            <a:pPr marL="342900" indent="-342900">
              <a:buFont typeface="+mj-lt"/>
              <a:buAutoNum type="arabicPeriod"/>
            </a:pPr>
            <a:endParaRPr lang="fr-FR">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196598345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3183</Words>
  <Application>Microsoft Office PowerPoint</Application>
  <PresentationFormat>Grand écran</PresentationFormat>
  <Paragraphs>405</Paragraphs>
  <Slides>17</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17</vt:i4>
      </vt:variant>
    </vt:vector>
  </HeadingPairs>
  <TitlesOfParts>
    <vt:vector size="24" baseType="lpstr">
      <vt:lpstr>Aptos</vt:lpstr>
      <vt:lpstr>Aptos Display</vt:lpstr>
      <vt:lpstr>Arial</vt:lpstr>
      <vt:lpstr>Calibri</vt:lpstr>
      <vt:lpstr>CMU Serif</vt:lpstr>
      <vt:lpstr>Courier New</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Guillaume BEGUEC</dc:creator>
  <cp:lastModifiedBy>Didier LIRON</cp:lastModifiedBy>
  <cp:revision>372</cp:revision>
  <dcterms:created xsi:type="dcterms:W3CDTF">2024-07-29T14:30:25Z</dcterms:created>
  <dcterms:modified xsi:type="dcterms:W3CDTF">2025-09-12T11:29:59Z</dcterms:modified>
</cp:coreProperties>
</file>